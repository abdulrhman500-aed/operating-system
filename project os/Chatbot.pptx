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0" r:id="rId2"/>
  </p:sldMasterIdLst>
  <p:notesMasterIdLst>
    <p:notesMasterId r:id="rId15"/>
  </p:notesMasterIdLst>
  <p:sldIdLst>
    <p:sldId id="266" r:id="rId3"/>
    <p:sldId id="267" r:id="rId4"/>
    <p:sldId id="257" r:id="rId5"/>
    <p:sldId id="258" r:id="rId6"/>
    <p:sldId id="259" r:id="rId7"/>
    <p:sldId id="260" r:id="rId8"/>
    <p:sldId id="261" r:id="rId9"/>
    <p:sldId id="262" r:id="rId10"/>
    <p:sldId id="263" r:id="rId11"/>
    <p:sldId id="264" r:id="rId12"/>
    <p:sldId id="265" r:id="rId13"/>
    <p:sldId id="256" r:id="rId14"/>
  </p:sldIdLst>
  <p:sldSz cx="14630400" cy="8229600"/>
  <p:notesSz cx="8229600" cy="14630400"/>
  <p:embeddedFontLst>
    <p:embeddedFont>
      <p:font typeface="Bitter Medium" panose="020B0604020202020204" charset="0"/>
      <p:regular r:id="rId16"/>
    </p:embeddedFont>
    <p:embeddedFont>
      <p:font typeface="Consolas" panose="020B0609020204030204" pitchFamily="49" charset="0"/>
      <p:regular r:id="rId17"/>
      <p:bold r:id="rId18"/>
      <p:italic r:id="rId19"/>
      <p:boldItalic r:id="rId20"/>
    </p:embeddedFont>
    <p:embeddedFont>
      <p:font typeface="Garamond" panose="02020404030301010803" pitchFamily="18" charset="0"/>
      <p:regular r:id="rId21"/>
      <p:bold r:id="rId22"/>
      <p:italic r:id="rId23"/>
    </p:embeddedFont>
    <p:embeddedFont>
      <p:font typeface="Open Sans" panose="020B0606030504020204" pitchFamily="34"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2"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1.xml"/><Relationship Id="rId21" Type="http://schemas.openxmlformats.org/officeDocument/2006/relationships/font" Target="fonts/font6.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9.fntdata"/><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0F846E-D33F-42D8-A136-C032A85ADA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1AB06A0-6036-4778-9A51-11CAF463744F}">
      <dgm:prSet/>
      <dgm:spPr/>
      <dgm:t>
        <a:bodyPr/>
        <a:lstStyle/>
        <a:p>
          <a:r>
            <a:rPr lang="en-US" dirty="0"/>
            <a:t>                             </a:t>
          </a:r>
          <a:r>
            <a:rPr lang="ar-EG" dirty="0"/>
            <a:t>عبدالرحمن الشربيني</a:t>
          </a:r>
          <a:endParaRPr lang="en-US" dirty="0"/>
        </a:p>
      </dgm:t>
    </dgm:pt>
    <dgm:pt modelId="{359F6194-D3EF-42CC-994F-54FFD35CED72}" type="parTrans" cxnId="{89CE84F6-A4C2-4B4E-8988-D792110779CA}">
      <dgm:prSet/>
      <dgm:spPr/>
      <dgm:t>
        <a:bodyPr/>
        <a:lstStyle/>
        <a:p>
          <a:endParaRPr lang="en-US"/>
        </a:p>
      </dgm:t>
    </dgm:pt>
    <dgm:pt modelId="{57823AB0-E922-4049-9156-046C76E69F5A}" type="sibTrans" cxnId="{89CE84F6-A4C2-4B4E-8988-D792110779CA}">
      <dgm:prSet/>
      <dgm:spPr/>
      <dgm:t>
        <a:bodyPr/>
        <a:lstStyle/>
        <a:p>
          <a:endParaRPr lang="en-US"/>
        </a:p>
      </dgm:t>
    </dgm:pt>
    <dgm:pt modelId="{0F13F6DC-108D-4D1B-ADED-514CDBDB4944}">
      <dgm:prSet/>
      <dgm:spPr/>
      <dgm:t>
        <a:bodyPr/>
        <a:lstStyle/>
        <a:p>
          <a:r>
            <a:rPr lang="en-US" dirty="0"/>
            <a:t>                                  </a:t>
          </a:r>
          <a:r>
            <a:rPr lang="ar-EG" dirty="0"/>
            <a:t>أحمد الفقي </a:t>
          </a:r>
          <a:endParaRPr lang="en-US" dirty="0"/>
        </a:p>
      </dgm:t>
    </dgm:pt>
    <dgm:pt modelId="{F89280C1-56DC-470E-98D2-F2CB935F39C6}" type="parTrans" cxnId="{408CA2F2-0670-4556-B25E-27232541A674}">
      <dgm:prSet/>
      <dgm:spPr/>
      <dgm:t>
        <a:bodyPr/>
        <a:lstStyle/>
        <a:p>
          <a:endParaRPr lang="en-US"/>
        </a:p>
      </dgm:t>
    </dgm:pt>
    <dgm:pt modelId="{06325BE0-0369-4CB6-B2DA-CEF483721ADC}" type="sibTrans" cxnId="{408CA2F2-0670-4556-B25E-27232541A674}">
      <dgm:prSet/>
      <dgm:spPr/>
      <dgm:t>
        <a:bodyPr/>
        <a:lstStyle/>
        <a:p>
          <a:endParaRPr lang="en-US"/>
        </a:p>
      </dgm:t>
    </dgm:pt>
    <dgm:pt modelId="{C75D8582-C1CE-45B2-B3A6-2D0ACD90AB8E}">
      <dgm:prSet/>
      <dgm:spPr/>
      <dgm:t>
        <a:bodyPr/>
        <a:lstStyle/>
        <a:p>
          <a:r>
            <a:rPr lang="en-US" dirty="0"/>
            <a:t>                               </a:t>
          </a:r>
          <a:r>
            <a:rPr lang="ar-EG" dirty="0"/>
            <a:t>عبدالله </a:t>
          </a:r>
          <a:r>
            <a:rPr lang="ar-EG" dirty="0" err="1"/>
            <a:t>الششتوي</a:t>
          </a:r>
          <a:endParaRPr lang="en-US" dirty="0"/>
        </a:p>
      </dgm:t>
    </dgm:pt>
    <dgm:pt modelId="{83ED32FB-B8D1-41CD-9B53-C8F2A6D740C9}" type="parTrans" cxnId="{8BC78D18-775B-4B1D-A033-56B742ABCF4E}">
      <dgm:prSet/>
      <dgm:spPr/>
      <dgm:t>
        <a:bodyPr/>
        <a:lstStyle/>
        <a:p>
          <a:endParaRPr lang="en-US"/>
        </a:p>
      </dgm:t>
    </dgm:pt>
    <dgm:pt modelId="{AC933C5C-E444-47EB-A9E3-205744DDE339}" type="sibTrans" cxnId="{8BC78D18-775B-4B1D-A033-56B742ABCF4E}">
      <dgm:prSet/>
      <dgm:spPr/>
      <dgm:t>
        <a:bodyPr/>
        <a:lstStyle/>
        <a:p>
          <a:endParaRPr lang="en-US"/>
        </a:p>
      </dgm:t>
    </dgm:pt>
    <dgm:pt modelId="{7F98E682-D283-45E7-A50F-1E10221A5DD0}">
      <dgm:prSet/>
      <dgm:spPr/>
      <dgm:t>
        <a:bodyPr/>
        <a:lstStyle/>
        <a:p>
          <a:r>
            <a:rPr lang="en-US" dirty="0"/>
            <a:t>                                    </a:t>
          </a:r>
          <a:r>
            <a:rPr lang="ar-EG" dirty="0"/>
            <a:t>فوزي محمد</a:t>
          </a:r>
          <a:endParaRPr lang="en-US" dirty="0"/>
        </a:p>
      </dgm:t>
    </dgm:pt>
    <dgm:pt modelId="{6D3544E7-1D2D-4303-BF70-C4DFD858E20D}" type="parTrans" cxnId="{A646F917-ADD9-4A9B-A234-CC011AC39028}">
      <dgm:prSet/>
      <dgm:spPr/>
      <dgm:t>
        <a:bodyPr/>
        <a:lstStyle/>
        <a:p>
          <a:endParaRPr lang="en-US"/>
        </a:p>
      </dgm:t>
    </dgm:pt>
    <dgm:pt modelId="{B4921B88-8164-4CCB-AD15-77D8896627A4}" type="sibTrans" cxnId="{A646F917-ADD9-4A9B-A234-CC011AC39028}">
      <dgm:prSet/>
      <dgm:spPr/>
      <dgm:t>
        <a:bodyPr/>
        <a:lstStyle/>
        <a:p>
          <a:endParaRPr lang="en-US"/>
        </a:p>
      </dgm:t>
    </dgm:pt>
    <dgm:pt modelId="{100E8151-7A94-49FB-8E69-10A78D109B63}">
      <dgm:prSet/>
      <dgm:spPr/>
      <dgm:t>
        <a:bodyPr/>
        <a:lstStyle/>
        <a:p>
          <a:r>
            <a:rPr lang="en-US" dirty="0"/>
            <a:t>                                  </a:t>
          </a:r>
          <a:r>
            <a:rPr lang="ar-EG" dirty="0"/>
            <a:t>مصع</a:t>
          </a:r>
          <a:r>
            <a:rPr lang="ar-AE" dirty="0"/>
            <a:t>ب عمر</a:t>
          </a:r>
          <a:r>
            <a:rPr lang="en-US" dirty="0"/>
            <a:t> </a:t>
          </a:r>
        </a:p>
      </dgm:t>
    </dgm:pt>
    <dgm:pt modelId="{79D70E12-B809-4172-AB8A-58301FB97E80}" type="parTrans" cxnId="{1A344749-C2DF-43E9-8580-EEC22235F56F}">
      <dgm:prSet/>
      <dgm:spPr/>
      <dgm:t>
        <a:bodyPr/>
        <a:lstStyle/>
        <a:p>
          <a:endParaRPr lang="en-US"/>
        </a:p>
      </dgm:t>
    </dgm:pt>
    <dgm:pt modelId="{076B8386-C45A-42C3-9D6E-99734BE11E10}" type="sibTrans" cxnId="{1A344749-C2DF-43E9-8580-EEC22235F56F}">
      <dgm:prSet/>
      <dgm:spPr/>
      <dgm:t>
        <a:bodyPr/>
        <a:lstStyle/>
        <a:p>
          <a:endParaRPr lang="en-US"/>
        </a:p>
      </dgm:t>
    </dgm:pt>
    <dgm:pt modelId="{3759074F-E112-42C0-88B6-FDEA8DDAD1BE}">
      <dgm:prSet/>
      <dgm:spPr/>
      <dgm:t>
        <a:bodyPr/>
        <a:lstStyle/>
        <a:p>
          <a:r>
            <a:rPr lang="en-US" dirty="0"/>
            <a:t>                                </a:t>
          </a:r>
          <a:r>
            <a:rPr lang="ar-EG" dirty="0"/>
            <a:t>زكريا </a:t>
          </a:r>
          <a:r>
            <a:rPr lang="ar-AE" dirty="0" err="1"/>
            <a:t>جارالنبي</a:t>
          </a:r>
          <a:endParaRPr lang="en-US" dirty="0"/>
        </a:p>
      </dgm:t>
    </dgm:pt>
    <dgm:pt modelId="{19072007-672A-489F-B359-C0D207EA70BC}" type="parTrans" cxnId="{1F2C1B7C-9520-4CB7-94C5-BC6081F2CD0C}">
      <dgm:prSet/>
      <dgm:spPr/>
      <dgm:t>
        <a:bodyPr/>
        <a:lstStyle/>
        <a:p>
          <a:endParaRPr lang="en-US"/>
        </a:p>
      </dgm:t>
    </dgm:pt>
    <dgm:pt modelId="{9EAA7760-8A4F-46D6-A515-1B09E464DC32}" type="sibTrans" cxnId="{1F2C1B7C-9520-4CB7-94C5-BC6081F2CD0C}">
      <dgm:prSet/>
      <dgm:spPr/>
      <dgm:t>
        <a:bodyPr/>
        <a:lstStyle/>
        <a:p>
          <a:endParaRPr lang="en-US"/>
        </a:p>
      </dgm:t>
    </dgm:pt>
    <dgm:pt modelId="{8E71ECB9-415A-48E2-AC99-724B1AFF1EAB}" type="pres">
      <dgm:prSet presAssocID="{330F846E-D33F-42D8-A136-C032A85ADAE0}" presName="linear" presStyleCnt="0">
        <dgm:presLayoutVars>
          <dgm:animLvl val="lvl"/>
          <dgm:resizeHandles val="exact"/>
        </dgm:presLayoutVars>
      </dgm:prSet>
      <dgm:spPr/>
    </dgm:pt>
    <dgm:pt modelId="{5B60948E-4205-44F8-82FE-6B2F071B377D}" type="pres">
      <dgm:prSet presAssocID="{51AB06A0-6036-4778-9A51-11CAF463744F}" presName="parentText" presStyleLbl="node1" presStyleIdx="0" presStyleCnt="6">
        <dgm:presLayoutVars>
          <dgm:chMax val="0"/>
          <dgm:bulletEnabled val="1"/>
        </dgm:presLayoutVars>
      </dgm:prSet>
      <dgm:spPr/>
    </dgm:pt>
    <dgm:pt modelId="{1FB17DD0-667F-426E-9D3E-8A21B073AE2C}" type="pres">
      <dgm:prSet presAssocID="{57823AB0-E922-4049-9156-046C76E69F5A}" presName="spacer" presStyleCnt="0"/>
      <dgm:spPr/>
    </dgm:pt>
    <dgm:pt modelId="{1C9506C1-56C1-4E23-9E71-49473ED61AD9}" type="pres">
      <dgm:prSet presAssocID="{0F13F6DC-108D-4D1B-ADED-514CDBDB4944}" presName="parentText" presStyleLbl="node1" presStyleIdx="1" presStyleCnt="6">
        <dgm:presLayoutVars>
          <dgm:chMax val="0"/>
          <dgm:bulletEnabled val="1"/>
        </dgm:presLayoutVars>
      </dgm:prSet>
      <dgm:spPr/>
    </dgm:pt>
    <dgm:pt modelId="{BCA34AC5-78F4-49EC-8DFB-AC7F1AD3EBF4}" type="pres">
      <dgm:prSet presAssocID="{06325BE0-0369-4CB6-B2DA-CEF483721ADC}" presName="spacer" presStyleCnt="0"/>
      <dgm:spPr/>
    </dgm:pt>
    <dgm:pt modelId="{D331DA70-204C-40A9-856D-22B6A07B3649}" type="pres">
      <dgm:prSet presAssocID="{C75D8582-C1CE-45B2-B3A6-2D0ACD90AB8E}" presName="parentText" presStyleLbl="node1" presStyleIdx="2" presStyleCnt="6">
        <dgm:presLayoutVars>
          <dgm:chMax val="0"/>
          <dgm:bulletEnabled val="1"/>
        </dgm:presLayoutVars>
      </dgm:prSet>
      <dgm:spPr/>
    </dgm:pt>
    <dgm:pt modelId="{EB780E73-29C1-4BFA-95A7-9CFBEEB2ED07}" type="pres">
      <dgm:prSet presAssocID="{AC933C5C-E444-47EB-A9E3-205744DDE339}" presName="spacer" presStyleCnt="0"/>
      <dgm:spPr/>
    </dgm:pt>
    <dgm:pt modelId="{8FDF3DEC-0DCE-47BD-B6B8-527BF4F9EBD6}" type="pres">
      <dgm:prSet presAssocID="{7F98E682-D283-45E7-A50F-1E10221A5DD0}" presName="parentText" presStyleLbl="node1" presStyleIdx="3" presStyleCnt="6">
        <dgm:presLayoutVars>
          <dgm:chMax val="0"/>
          <dgm:bulletEnabled val="1"/>
        </dgm:presLayoutVars>
      </dgm:prSet>
      <dgm:spPr/>
    </dgm:pt>
    <dgm:pt modelId="{1B89ED54-8C6C-4408-899B-DB440AE240F2}" type="pres">
      <dgm:prSet presAssocID="{B4921B88-8164-4CCB-AD15-77D8896627A4}" presName="spacer" presStyleCnt="0"/>
      <dgm:spPr/>
    </dgm:pt>
    <dgm:pt modelId="{3EB6BBD5-6B9D-4ECF-A232-77235EEADBB8}" type="pres">
      <dgm:prSet presAssocID="{100E8151-7A94-49FB-8E69-10A78D109B63}" presName="parentText" presStyleLbl="node1" presStyleIdx="4" presStyleCnt="6">
        <dgm:presLayoutVars>
          <dgm:chMax val="0"/>
          <dgm:bulletEnabled val="1"/>
        </dgm:presLayoutVars>
      </dgm:prSet>
      <dgm:spPr/>
    </dgm:pt>
    <dgm:pt modelId="{23902CE8-4F7B-4BB9-9524-EC169A189E90}" type="pres">
      <dgm:prSet presAssocID="{076B8386-C45A-42C3-9D6E-99734BE11E10}" presName="spacer" presStyleCnt="0"/>
      <dgm:spPr/>
    </dgm:pt>
    <dgm:pt modelId="{59004B15-1F6B-4736-9B40-4D216AA69E0D}" type="pres">
      <dgm:prSet presAssocID="{3759074F-E112-42C0-88B6-FDEA8DDAD1BE}" presName="parentText" presStyleLbl="node1" presStyleIdx="5" presStyleCnt="6">
        <dgm:presLayoutVars>
          <dgm:chMax val="0"/>
          <dgm:bulletEnabled val="1"/>
        </dgm:presLayoutVars>
      </dgm:prSet>
      <dgm:spPr/>
    </dgm:pt>
  </dgm:ptLst>
  <dgm:cxnLst>
    <dgm:cxn modelId="{58860F0F-907F-4C9A-8D9F-357DC337FD6C}" type="presOf" srcId="{51AB06A0-6036-4778-9A51-11CAF463744F}" destId="{5B60948E-4205-44F8-82FE-6B2F071B377D}" srcOrd="0" destOrd="0" presId="urn:microsoft.com/office/officeart/2005/8/layout/vList2"/>
    <dgm:cxn modelId="{A646F917-ADD9-4A9B-A234-CC011AC39028}" srcId="{330F846E-D33F-42D8-A136-C032A85ADAE0}" destId="{7F98E682-D283-45E7-A50F-1E10221A5DD0}" srcOrd="3" destOrd="0" parTransId="{6D3544E7-1D2D-4303-BF70-C4DFD858E20D}" sibTransId="{B4921B88-8164-4CCB-AD15-77D8896627A4}"/>
    <dgm:cxn modelId="{8BC78D18-775B-4B1D-A033-56B742ABCF4E}" srcId="{330F846E-D33F-42D8-A136-C032A85ADAE0}" destId="{C75D8582-C1CE-45B2-B3A6-2D0ACD90AB8E}" srcOrd="2" destOrd="0" parTransId="{83ED32FB-B8D1-41CD-9B53-C8F2A6D740C9}" sibTransId="{AC933C5C-E444-47EB-A9E3-205744DDE339}"/>
    <dgm:cxn modelId="{D770EA2A-34F5-4D53-B991-266B09811D54}" type="presOf" srcId="{7F98E682-D283-45E7-A50F-1E10221A5DD0}" destId="{8FDF3DEC-0DCE-47BD-B6B8-527BF4F9EBD6}" srcOrd="0" destOrd="0" presId="urn:microsoft.com/office/officeart/2005/8/layout/vList2"/>
    <dgm:cxn modelId="{762C9842-1D8A-4A17-BDE8-84E7FECA8739}" type="presOf" srcId="{3759074F-E112-42C0-88B6-FDEA8DDAD1BE}" destId="{59004B15-1F6B-4736-9B40-4D216AA69E0D}" srcOrd="0" destOrd="0" presId="urn:microsoft.com/office/officeart/2005/8/layout/vList2"/>
    <dgm:cxn modelId="{1A344749-C2DF-43E9-8580-EEC22235F56F}" srcId="{330F846E-D33F-42D8-A136-C032A85ADAE0}" destId="{100E8151-7A94-49FB-8E69-10A78D109B63}" srcOrd="4" destOrd="0" parTransId="{79D70E12-B809-4172-AB8A-58301FB97E80}" sibTransId="{076B8386-C45A-42C3-9D6E-99734BE11E10}"/>
    <dgm:cxn modelId="{1F2C1B7C-9520-4CB7-94C5-BC6081F2CD0C}" srcId="{330F846E-D33F-42D8-A136-C032A85ADAE0}" destId="{3759074F-E112-42C0-88B6-FDEA8DDAD1BE}" srcOrd="5" destOrd="0" parTransId="{19072007-672A-489F-B359-C0D207EA70BC}" sibTransId="{9EAA7760-8A4F-46D6-A515-1B09E464DC32}"/>
    <dgm:cxn modelId="{9E345894-4C41-464D-A9FC-B2EDFB9F5424}" type="presOf" srcId="{100E8151-7A94-49FB-8E69-10A78D109B63}" destId="{3EB6BBD5-6B9D-4ECF-A232-77235EEADBB8}" srcOrd="0" destOrd="0" presId="urn:microsoft.com/office/officeart/2005/8/layout/vList2"/>
    <dgm:cxn modelId="{EC365EA9-4931-498C-A89C-B15BAD6224CC}" type="presOf" srcId="{330F846E-D33F-42D8-A136-C032A85ADAE0}" destId="{8E71ECB9-415A-48E2-AC99-724B1AFF1EAB}" srcOrd="0" destOrd="0" presId="urn:microsoft.com/office/officeart/2005/8/layout/vList2"/>
    <dgm:cxn modelId="{143FDEE3-8581-4D71-BA05-C549949FF868}" type="presOf" srcId="{0F13F6DC-108D-4D1B-ADED-514CDBDB4944}" destId="{1C9506C1-56C1-4E23-9E71-49473ED61AD9}" srcOrd="0" destOrd="0" presId="urn:microsoft.com/office/officeart/2005/8/layout/vList2"/>
    <dgm:cxn modelId="{408CA2F2-0670-4556-B25E-27232541A674}" srcId="{330F846E-D33F-42D8-A136-C032A85ADAE0}" destId="{0F13F6DC-108D-4D1B-ADED-514CDBDB4944}" srcOrd="1" destOrd="0" parTransId="{F89280C1-56DC-470E-98D2-F2CB935F39C6}" sibTransId="{06325BE0-0369-4CB6-B2DA-CEF483721ADC}"/>
    <dgm:cxn modelId="{89CE84F6-A4C2-4B4E-8988-D792110779CA}" srcId="{330F846E-D33F-42D8-A136-C032A85ADAE0}" destId="{51AB06A0-6036-4778-9A51-11CAF463744F}" srcOrd="0" destOrd="0" parTransId="{359F6194-D3EF-42CC-994F-54FFD35CED72}" sibTransId="{57823AB0-E922-4049-9156-046C76E69F5A}"/>
    <dgm:cxn modelId="{118DE8F9-D1B0-4702-B838-515CB00AECF2}" type="presOf" srcId="{C75D8582-C1CE-45B2-B3A6-2D0ACD90AB8E}" destId="{D331DA70-204C-40A9-856D-22B6A07B3649}" srcOrd="0" destOrd="0" presId="urn:microsoft.com/office/officeart/2005/8/layout/vList2"/>
    <dgm:cxn modelId="{D3D5A1FF-8ADC-4740-AF8A-5161249A3126}" type="presParOf" srcId="{8E71ECB9-415A-48E2-AC99-724B1AFF1EAB}" destId="{5B60948E-4205-44F8-82FE-6B2F071B377D}" srcOrd="0" destOrd="0" presId="urn:microsoft.com/office/officeart/2005/8/layout/vList2"/>
    <dgm:cxn modelId="{52956A6B-71D6-4678-8B0C-F509192DC071}" type="presParOf" srcId="{8E71ECB9-415A-48E2-AC99-724B1AFF1EAB}" destId="{1FB17DD0-667F-426E-9D3E-8A21B073AE2C}" srcOrd="1" destOrd="0" presId="urn:microsoft.com/office/officeart/2005/8/layout/vList2"/>
    <dgm:cxn modelId="{46B534CA-477F-4256-BC69-D2C9D74FE9B4}" type="presParOf" srcId="{8E71ECB9-415A-48E2-AC99-724B1AFF1EAB}" destId="{1C9506C1-56C1-4E23-9E71-49473ED61AD9}" srcOrd="2" destOrd="0" presId="urn:microsoft.com/office/officeart/2005/8/layout/vList2"/>
    <dgm:cxn modelId="{E49E5993-51D8-47AC-AAED-5C2F57601EB6}" type="presParOf" srcId="{8E71ECB9-415A-48E2-AC99-724B1AFF1EAB}" destId="{BCA34AC5-78F4-49EC-8DFB-AC7F1AD3EBF4}" srcOrd="3" destOrd="0" presId="urn:microsoft.com/office/officeart/2005/8/layout/vList2"/>
    <dgm:cxn modelId="{4B53D529-616C-4359-892E-62E8DC0D34E9}" type="presParOf" srcId="{8E71ECB9-415A-48E2-AC99-724B1AFF1EAB}" destId="{D331DA70-204C-40A9-856D-22B6A07B3649}" srcOrd="4" destOrd="0" presId="urn:microsoft.com/office/officeart/2005/8/layout/vList2"/>
    <dgm:cxn modelId="{0BF6EB30-B24A-4132-BB33-48003E780649}" type="presParOf" srcId="{8E71ECB9-415A-48E2-AC99-724B1AFF1EAB}" destId="{EB780E73-29C1-4BFA-95A7-9CFBEEB2ED07}" srcOrd="5" destOrd="0" presId="urn:microsoft.com/office/officeart/2005/8/layout/vList2"/>
    <dgm:cxn modelId="{E1600A82-7AB3-4679-BE0B-149AA65427A3}" type="presParOf" srcId="{8E71ECB9-415A-48E2-AC99-724B1AFF1EAB}" destId="{8FDF3DEC-0DCE-47BD-B6B8-527BF4F9EBD6}" srcOrd="6" destOrd="0" presId="urn:microsoft.com/office/officeart/2005/8/layout/vList2"/>
    <dgm:cxn modelId="{292A27EE-F54D-48E5-85AF-4347AE6AC1FA}" type="presParOf" srcId="{8E71ECB9-415A-48E2-AC99-724B1AFF1EAB}" destId="{1B89ED54-8C6C-4408-899B-DB440AE240F2}" srcOrd="7" destOrd="0" presId="urn:microsoft.com/office/officeart/2005/8/layout/vList2"/>
    <dgm:cxn modelId="{EF2C0567-073F-443B-B1FF-8A5E5C08D102}" type="presParOf" srcId="{8E71ECB9-415A-48E2-AC99-724B1AFF1EAB}" destId="{3EB6BBD5-6B9D-4ECF-A232-77235EEADBB8}" srcOrd="8" destOrd="0" presId="urn:microsoft.com/office/officeart/2005/8/layout/vList2"/>
    <dgm:cxn modelId="{402026AA-A98F-45BD-A357-CA91AE097661}" type="presParOf" srcId="{8E71ECB9-415A-48E2-AC99-724B1AFF1EAB}" destId="{23902CE8-4F7B-4BB9-9524-EC169A189E90}" srcOrd="9" destOrd="0" presId="urn:microsoft.com/office/officeart/2005/8/layout/vList2"/>
    <dgm:cxn modelId="{B0617695-8F07-4F5E-8F0C-5BF0FE3E9F7F}" type="presParOf" srcId="{8E71ECB9-415A-48E2-AC99-724B1AFF1EAB}" destId="{59004B15-1F6B-4736-9B40-4D216AA69E0D}" srcOrd="1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60948E-4205-44F8-82FE-6B2F071B377D}">
      <dsp:nvSpPr>
        <dsp:cNvPr id="0" name=""/>
        <dsp:cNvSpPr/>
      </dsp:nvSpPr>
      <dsp:spPr>
        <a:xfrm>
          <a:off x="0" y="76595"/>
          <a:ext cx="6970298"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                             </a:t>
          </a:r>
          <a:r>
            <a:rPr lang="ar-EG" sz="2800" kern="1200" dirty="0"/>
            <a:t>عبدالرحمن الشربيني</a:t>
          </a:r>
          <a:endParaRPr lang="en-US" sz="2800" kern="1200" dirty="0"/>
        </a:p>
      </dsp:txBody>
      <dsp:txXfrm>
        <a:off x="32784" y="109379"/>
        <a:ext cx="6904730" cy="606012"/>
      </dsp:txXfrm>
    </dsp:sp>
    <dsp:sp modelId="{1C9506C1-56C1-4E23-9E71-49473ED61AD9}">
      <dsp:nvSpPr>
        <dsp:cNvPr id="0" name=""/>
        <dsp:cNvSpPr/>
      </dsp:nvSpPr>
      <dsp:spPr>
        <a:xfrm>
          <a:off x="0" y="828815"/>
          <a:ext cx="6970298"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                                  </a:t>
          </a:r>
          <a:r>
            <a:rPr lang="ar-EG" sz="2800" kern="1200" dirty="0"/>
            <a:t>أحمد الفقي </a:t>
          </a:r>
          <a:endParaRPr lang="en-US" sz="2800" kern="1200" dirty="0"/>
        </a:p>
      </dsp:txBody>
      <dsp:txXfrm>
        <a:off x="32784" y="861599"/>
        <a:ext cx="6904730" cy="606012"/>
      </dsp:txXfrm>
    </dsp:sp>
    <dsp:sp modelId="{D331DA70-204C-40A9-856D-22B6A07B3649}">
      <dsp:nvSpPr>
        <dsp:cNvPr id="0" name=""/>
        <dsp:cNvSpPr/>
      </dsp:nvSpPr>
      <dsp:spPr>
        <a:xfrm>
          <a:off x="0" y="1581035"/>
          <a:ext cx="6970298"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                               </a:t>
          </a:r>
          <a:r>
            <a:rPr lang="ar-EG" sz="2800" kern="1200" dirty="0"/>
            <a:t>عبدالله </a:t>
          </a:r>
          <a:r>
            <a:rPr lang="ar-EG" sz="2800" kern="1200" dirty="0" err="1"/>
            <a:t>الششتوي</a:t>
          </a:r>
          <a:endParaRPr lang="en-US" sz="2800" kern="1200" dirty="0"/>
        </a:p>
      </dsp:txBody>
      <dsp:txXfrm>
        <a:off x="32784" y="1613819"/>
        <a:ext cx="6904730" cy="606012"/>
      </dsp:txXfrm>
    </dsp:sp>
    <dsp:sp modelId="{8FDF3DEC-0DCE-47BD-B6B8-527BF4F9EBD6}">
      <dsp:nvSpPr>
        <dsp:cNvPr id="0" name=""/>
        <dsp:cNvSpPr/>
      </dsp:nvSpPr>
      <dsp:spPr>
        <a:xfrm>
          <a:off x="0" y="2333255"/>
          <a:ext cx="6970298"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                                    </a:t>
          </a:r>
          <a:r>
            <a:rPr lang="ar-EG" sz="2800" kern="1200" dirty="0"/>
            <a:t>فوزي محمد</a:t>
          </a:r>
          <a:endParaRPr lang="en-US" sz="2800" kern="1200" dirty="0"/>
        </a:p>
      </dsp:txBody>
      <dsp:txXfrm>
        <a:off x="32784" y="2366039"/>
        <a:ext cx="6904730" cy="606012"/>
      </dsp:txXfrm>
    </dsp:sp>
    <dsp:sp modelId="{3EB6BBD5-6B9D-4ECF-A232-77235EEADBB8}">
      <dsp:nvSpPr>
        <dsp:cNvPr id="0" name=""/>
        <dsp:cNvSpPr/>
      </dsp:nvSpPr>
      <dsp:spPr>
        <a:xfrm>
          <a:off x="0" y="3085475"/>
          <a:ext cx="6970298"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                                  </a:t>
          </a:r>
          <a:r>
            <a:rPr lang="ar-EG" sz="2800" kern="1200" dirty="0"/>
            <a:t>مصع</a:t>
          </a:r>
          <a:r>
            <a:rPr lang="ar-AE" sz="2800" kern="1200" dirty="0"/>
            <a:t>ب عمر</a:t>
          </a:r>
          <a:r>
            <a:rPr lang="en-US" sz="2800" kern="1200" dirty="0"/>
            <a:t> </a:t>
          </a:r>
        </a:p>
      </dsp:txBody>
      <dsp:txXfrm>
        <a:off x="32784" y="3118259"/>
        <a:ext cx="6904730" cy="606012"/>
      </dsp:txXfrm>
    </dsp:sp>
    <dsp:sp modelId="{59004B15-1F6B-4736-9B40-4D216AA69E0D}">
      <dsp:nvSpPr>
        <dsp:cNvPr id="0" name=""/>
        <dsp:cNvSpPr/>
      </dsp:nvSpPr>
      <dsp:spPr>
        <a:xfrm>
          <a:off x="0" y="3837695"/>
          <a:ext cx="6970298"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                                </a:t>
          </a:r>
          <a:r>
            <a:rPr lang="ar-EG" sz="2800" kern="1200" dirty="0"/>
            <a:t>زكريا </a:t>
          </a:r>
          <a:r>
            <a:rPr lang="ar-AE" sz="2800" kern="1200" dirty="0" err="1"/>
            <a:t>جارالنبي</a:t>
          </a:r>
          <a:endParaRPr lang="en-US" sz="2800" kern="1200" dirty="0"/>
        </a:p>
      </dsp:txBody>
      <dsp:txXfrm>
        <a:off x="32784" y="3870479"/>
        <a:ext cx="6904730" cy="60601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5899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EA301-7BC5-6D49-BA38-58303DCE6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A67B8-CC8D-E24A-93D6-1766C9BEB5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77212A-E3B4-50CC-8E6F-48B0FDCB9B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9BE332-CDF0-779C-D8C5-C56FB1E60609}"/>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635898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US"/>
          </a:p>
        </p:txBody>
      </p:sp>
      <p:sp>
        <p:nvSpPr>
          <p:cNvPr id="3" name="Shape 1"/>
          <p:cNvSpPr/>
          <p:nvPr/>
        </p:nvSpPr>
        <p:spPr>
          <a:xfrm>
            <a:off x="0" y="0"/>
            <a:ext cx="14630400" cy="8229600"/>
          </a:xfrm>
          <a:prstGeom prst="rect">
            <a:avLst/>
          </a:prstGeom>
          <a:solidFill>
            <a:srgbClr val="FFF8F0"/>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20321" y="0"/>
            <a:ext cx="14677392" cy="8227457"/>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3230878" y="2245358"/>
            <a:ext cx="8178803" cy="1818640"/>
          </a:xfrm>
        </p:spPr>
        <p:txBody>
          <a:bodyPr anchor="b">
            <a:noAutofit/>
          </a:bodyPr>
          <a:lstStyle>
            <a:lvl1pPr algn="ctr">
              <a:defRPr sz="6480">
                <a:effectLst/>
              </a:defRPr>
            </a:lvl1pPr>
          </a:lstStyle>
          <a:p>
            <a:r>
              <a:rPr lang="en-US"/>
              <a:t>Click to edit Master title style</a:t>
            </a:r>
            <a:endParaRPr lang="en-US" dirty="0"/>
          </a:p>
        </p:txBody>
      </p:sp>
      <p:sp>
        <p:nvSpPr>
          <p:cNvPr id="3" name="Subtitle 2"/>
          <p:cNvSpPr>
            <a:spLocks noGrp="1"/>
          </p:cNvSpPr>
          <p:nvPr>
            <p:ph type="subTitle" idx="1"/>
          </p:nvPr>
        </p:nvSpPr>
        <p:spPr>
          <a:xfrm>
            <a:off x="3230878" y="4389117"/>
            <a:ext cx="8178803" cy="1584962"/>
          </a:xfrm>
        </p:spPr>
        <p:txBody>
          <a:bodyPr anchor="t">
            <a:normAutofit/>
          </a:bodyPr>
          <a:lstStyle>
            <a:lvl1pPr marL="0" indent="0" algn="ctr">
              <a:buNone/>
              <a:defRPr sz="2520">
                <a:solidFill>
                  <a:schemeClr val="tx1"/>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9579879" y="6045196"/>
            <a:ext cx="1076960" cy="335280"/>
          </a:xfrm>
        </p:spPr>
        <p:txBody>
          <a:bodyPr/>
          <a:lstStyle/>
          <a:p>
            <a:fld id="{B61BEF0D-F0BB-DE4B-95CE-6DB70DBA9567}" type="datetimeFigureOut">
              <a:rPr lang="en-US" dirty="0"/>
              <a:pPr/>
              <a:t>12/23/2025</a:t>
            </a:fld>
            <a:endParaRPr lang="en-US" dirty="0"/>
          </a:p>
        </p:txBody>
      </p:sp>
      <p:sp>
        <p:nvSpPr>
          <p:cNvPr id="5" name="Footer Placeholder 4"/>
          <p:cNvSpPr>
            <a:spLocks noGrp="1"/>
          </p:cNvSpPr>
          <p:nvPr>
            <p:ph type="ftr" sz="quarter" idx="11"/>
          </p:nvPr>
        </p:nvSpPr>
        <p:spPr>
          <a:xfrm>
            <a:off x="3230877" y="6045196"/>
            <a:ext cx="6257562" cy="335280"/>
          </a:xfrm>
        </p:spPr>
        <p:txBody>
          <a:bodyPr/>
          <a:lstStyle/>
          <a:p>
            <a:endParaRPr lang="en-US" dirty="0"/>
          </a:p>
        </p:txBody>
      </p:sp>
      <p:sp>
        <p:nvSpPr>
          <p:cNvPr id="6" name="Slide Number Placeholder 5"/>
          <p:cNvSpPr>
            <a:spLocks noGrp="1"/>
          </p:cNvSpPr>
          <p:nvPr>
            <p:ph type="sldNum" sz="quarter" idx="12"/>
          </p:nvPr>
        </p:nvSpPr>
        <p:spPr>
          <a:xfrm>
            <a:off x="10748281" y="6045196"/>
            <a:ext cx="661400" cy="335280"/>
          </a:xfrm>
        </p:spPr>
        <p:txBody>
          <a:bodyPr/>
          <a:lstStyle/>
          <a:p>
            <a:fld id="{D57F1E4F-1CFF-5643-939E-217C01CDF565}" type="slidenum">
              <a:rPr lang="en-US" dirty="0"/>
              <a:pPr/>
              <a:t>‹#›</a:t>
            </a:fld>
            <a:endParaRPr lang="en-US" dirty="0"/>
          </a:p>
        </p:txBody>
      </p:sp>
      <p:cxnSp>
        <p:nvCxnSpPr>
          <p:cNvPr id="15" name="Straight Connector 14"/>
          <p:cNvCxnSpPr/>
          <p:nvPr/>
        </p:nvCxnSpPr>
        <p:spPr>
          <a:xfrm>
            <a:off x="3230879" y="4226557"/>
            <a:ext cx="8178802"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877689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extLst>
      <p:ext uri="{BB962C8B-B14F-4D97-AF65-F5344CB8AC3E}">
        <p14:creationId xmlns:p14="http://schemas.microsoft.com/office/powerpoint/2010/main" val="180987641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18083" y="2103127"/>
            <a:ext cx="9790426" cy="2187017"/>
          </a:xfrm>
        </p:spPr>
        <p:txBody>
          <a:bodyPr anchor="b">
            <a:normAutofit/>
          </a:bodyPr>
          <a:lstStyle>
            <a:lvl1pPr algn="ctr">
              <a:defRPr sz="5280" b="0" cap="none"/>
            </a:lvl1pPr>
          </a:lstStyle>
          <a:p>
            <a:r>
              <a:rPr lang="en-US"/>
              <a:t>Click to edit Master title style</a:t>
            </a:r>
            <a:endParaRPr lang="en-US" dirty="0"/>
          </a:p>
        </p:txBody>
      </p:sp>
      <p:sp>
        <p:nvSpPr>
          <p:cNvPr id="3" name="Text Placeholder 2"/>
          <p:cNvSpPr>
            <a:spLocks noGrp="1"/>
          </p:cNvSpPr>
          <p:nvPr>
            <p:ph type="body" idx="1"/>
          </p:nvPr>
        </p:nvSpPr>
        <p:spPr>
          <a:xfrm>
            <a:off x="2418080" y="4615262"/>
            <a:ext cx="9790428" cy="1145456"/>
          </a:xfrm>
        </p:spPr>
        <p:txBody>
          <a:bodyPr anchor="t">
            <a:normAutofit/>
          </a:bodyPr>
          <a:lstStyle>
            <a:lvl1pPr marL="0" indent="0" algn="ctr">
              <a:buNone/>
              <a:defRPr sz="288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415268" y="4452702"/>
            <a:ext cx="9796056"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052170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58138" y="3072384"/>
            <a:ext cx="5661965" cy="397215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17613" y="3072384"/>
            <a:ext cx="5661965" cy="397215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extLst>
      <p:ext uri="{BB962C8B-B14F-4D97-AF65-F5344CB8AC3E}">
        <p14:creationId xmlns:p14="http://schemas.microsoft.com/office/powerpoint/2010/main" val="223647801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554480" y="3190240"/>
            <a:ext cx="5661965" cy="691514"/>
          </a:xfrm>
        </p:spPr>
        <p:txBody>
          <a:bodyPr anchor="b">
            <a:noAutofit/>
          </a:bodyPr>
          <a:lstStyle>
            <a:lvl1pPr marL="0" indent="0">
              <a:spcBef>
                <a:spcPts val="806"/>
              </a:spcBef>
              <a:spcAft>
                <a:spcPts val="720"/>
              </a:spcAft>
              <a:buNone/>
              <a:defRPr sz="336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554480" y="3891915"/>
            <a:ext cx="5661965" cy="3159126"/>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16804" y="3190240"/>
            <a:ext cx="5661965" cy="691514"/>
          </a:xfrm>
        </p:spPr>
        <p:txBody>
          <a:bodyPr anchor="b">
            <a:noAutofit/>
          </a:bodyPr>
          <a:lstStyle>
            <a:lvl1pPr marL="0" indent="0">
              <a:spcBef>
                <a:spcPts val="806"/>
              </a:spcBef>
              <a:spcAft>
                <a:spcPts val="720"/>
              </a:spcAft>
              <a:buNone/>
              <a:defRPr sz="336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16804" y="3891915"/>
            <a:ext cx="5661965" cy="3159126"/>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086839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030304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33803989"/>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52574" y="1666241"/>
            <a:ext cx="4462146" cy="1645920"/>
          </a:xfrm>
        </p:spPr>
        <p:txBody>
          <a:bodyPr anchor="b">
            <a:normAutofit/>
          </a:bodyPr>
          <a:lstStyle>
            <a:lvl1pPr algn="ctr">
              <a:defRPr sz="2880" b="0"/>
            </a:lvl1pPr>
          </a:lstStyle>
          <a:p>
            <a:r>
              <a:rPr lang="en-US"/>
              <a:t>Click to edit Master title style</a:t>
            </a:r>
            <a:endParaRPr lang="en-US" dirty="0"/>
          </a:p>
        </p:txBody>
      </p:sp>
      <p:sp>
        <p:nvSpPr>
          <p:cNvPr id="3" name="Content Placeholder 2"/>
          <p:cNvSpPr>
            <a:spLocks noGrp="1"/>
          </p:cNvSpPr>
          <p:nvPr>
            <p:ph idx="1"/>
          </p:nvPr>
        </p:nvSpPr>
        <p:spPr>
          <a:xfrm>
            <a:off x="6502402" y="1178558"/>
            <a:ext cx="6563359" cy="5872482"/>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52574" y="3637278"/>
            <a:ext cx="4462146" cy="2926085"/>
          </a:xfrm>
        </p:spPr>
        <p:txBody>
          <a:bodyPr anchor="t">
            <a:normAutofit/>
          </a:bodyPr>
          <a:lstStyle>
            <a:lvl1pPr marL="0" indent="0" algn="ctr">
              <a:buNone/>
              <a:defRPr sz="192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675403" y="3495040"/>
            <a:ext cx="42173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8701474"/>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54479" y="2260598"/>
            <a:ext cx="7490179" cy="1645920"/>
          </a:xfrm>
        </p:spPr>
        <p:txBody>
          <a:bodyPr anchor="b">
            <a:normAutofit/>
          </a:bodyPr>
          <a:lstStyle>
            <a:lvl1pPr algn="ctr">
              <a:defRPr sz="336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9713798" y="1249680"/>
            <a:ext cx="3676016" cy="573024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554479" y="3906518"/>
            <a:ext cx="7490179" cy="2194560"/>
          </a:xfrm>
        </p:spPr>
        <p:txBody>
          <a:bodyPr anchor="t">
            <a:normAutofit/>
          </a:bodyPr>
          <a:lstStyle>
            <a:lvl1pPr marL="0" indent="0" algn="ctr">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94101826"/>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54481" y="5778498"/>
            <a:ext cx="11531599" cy="680086"/>
          </a:xfrm>
        </p:spPr>
        <p:txBody>
          <a:bodyPr anchor="b">
            <a:normAutofit/>
          </a:bodyPr>
          <a:lstStyle>
            <a:lvl1pPr algn="ctr">
              <a:defRPr sz="288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49713" y="1249679"/>
            <a:ext cx="12127166" cy="4003043"/>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4" name="Text Placeholder 3"/>
          <p:cNvSpPr>
            <a:spLocks noGrp="1"/>
          </p:cNvSpPr>
          <p:nvPr>
            <p:ph type="body" sz="half" idx="2"/>
          </p:nvPr>
        </p:nvSpPr>
        <p:spPr>
          <a:xfrm>
            <a:off x="1554481" y="6458584"/>
            <a:ext cx="11531599" cy="592454"/>
          </a:xfrm>
        </p:spPr>
        <p:txBody>
          <a:bodyPr>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09728227"/>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564642" y="1178558"/>
            <a:ext cx="11511278" cy="3545842"/>
          </a:xfrm>
        </p:spPr>
        <p:txBody>
          <a:bodyPr anchor="ctr">
            <a:normAutofit/>
          </a:bodyPr>
          <a:lstStyle>
            <a:lvl1pPr algn="ctr">
              <a:defRPr sz="3840" b="0" cap="none"/>
            </a:lvl1pPr>
          </a:lstStyle>
          <a:p>
            <a:r>
              <a:rPr lang="en-US"/>
              <a:t>Click to edit Master title style</a:t>
            </a:r>
            <a:endParaRPr lang="en-US" dirty="0"/>
          </a:p>
        </p:txBody>
      </p:sp>
      <p:sp>
        <p:nvSpPr>
          <p:cNvPr id="3" name="Text Placeholder 2"/>
          <p:cNvSpPr>
            <a:spLocks noGrp="1"/>
          </p:cNvSpPr>
          <p:nvPr>
            <p:ph type="body" idx="1"/>
          </p:nvPr>
        </p:nvSpPr>
        <p:spPr>
          <a:xfrm>
            <a:off x="1564642" y="5212080"/>
            <a:ext cx="11511278" cy="1838960"/>
          </a:xfrm>
        </p:spPr>
        <p:txBody>
          <a:bodyPr anchor="ctr">
            <a:normAutofit/>
          </a:bodyPr>
          <a:lstStyle>
            <a:lvl1pPr marL="0" indent="0" algn="ctr">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675403" y="496823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1132876"/>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5455" y="1178558"/>
            <a:ext cx="11155678" cy="2844802"/>
          </a:xfrm>
        </p:spPr>
        <p:txBody>
          <a:bodyPr anchor="ctr">
            <a:normAutofit/>
          </a:bodyPr>
          <a:lstStyle>
            <a:lvl1pPr algn="ctr">
              <a:defRPr sz="384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009775" y="4023360"/>
            <a:ext cx="10607042" cy="701040"/>
          </a:xfrm>
        </p:spPr>
        <p:txBody>
          <a:bodyPr anchor="ctr">
            <a:normAutofit/>
          </a:bodyPr>
          <a:lstStyle>
            <a:lvl1pPr marL="0" indent="0" algn="r">
              <a:buFontTx/>
              <a:buNone/>
              <a:defRPr sz="2400"/>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en-US"/>
              <a:t>Click to edit Master text styles</a:t>
            </a:r>
          </a:p>
        </p:txBody>
      </p:sp>
      <p:sp>
        <p:nvSpPr>
          <p:cNvPr id="3" name="Text Placeholder 2"/>
          <p:cNvSpPr>
            <a:spLocks noGrp="1"/>
          </p:cNvSpPr>
          <p:nvPr>
            <p:ph type="body" idx="1"/>
          </p:nvPr>
        </p:nvSpPr>
        <p:spPr>
          <a:xfrm>
            <a:off x="1554481" y="5212080"/>
            <a:ext cx="11531599" cy="1838960"/>
          </a:xfrm>
        </p:spPr>
        <p:txBody>
          <a:bodyPr anchor="ctr">
            <a:normAutofit/>
          </a:bodyPr>
          <a:lstStyle>
            <a:lvl1pPr marL="0" indent="0" algn="ctr">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1034416" y="1055953"/>
            <a:ext cx="731520" cy="701731"/>
          </a:xfrm>
          <a:prstGeom prst="rect">
            <a:avLst/>
          </a:prstGeom>
        </p:spPr>
        <p:txBody>
          <a:bodyPr vert="horz" lIns="109728" tIns="54864" rIns="109728" bIns="54864" rtlCol="0" anchor="ctr">
            <a:noAutofit/>
          </a:bodyPr>
          <a:lstStyle/>
          <a:p>
            <a:pPr lvl="0"/>
            <a:r>
              <a:rPr lang="en-US" sz="9600" dirty="0">
                <a:solidFill>
                  <a:schemeClr val="tx1"/>
                </a:solidFill>
                <a:effectLst/>
              </a:rPr>
              <a:t>“</a:t>
            </a:r>
          </a:p>
        </p:txBody>
      </p:sp>
      <p:sp>
        <p:nvSpPr>
          <p:cNvPr id="15" name="TextBox 14"/>
          <p:cNvSpPr txBox="1"/>
          <p:nvPr/>
        </p:nvSpPr>
        <p:spPr>
          <a:xfrm>
            <a:off x="12720320" y="3393444"/>
            <a:ext cx="731520" cy="701731"/>
          </a:xfrm>
          <a:prstGeom prst="rect">
            <a:avLst/>
          </a:prstGeom>
        </p:spPr>
        <p:txBody>
          <a:bodyPr vert="horz" lIns="109728" tIns="54864" rIns="109728" bIns="54864" rtlCol="0" anchor="ctr">
            <a:noAutofit/>
          </a:bodyPr>
          <a:lstStyle/>
          <a:p>
            <a:pPr lvl="0" algn="r"/>
            <a:r>
              <a:rPr lang="en-US" sz="9600" dirty="0">
                <a:solidFill>
                  <a:schemeClr val="tx1"/>
                </a:solidFill>
                <a:effectLst/>
              </a:rPr>
              <a:t>”</a:t>
            </a:r>
          </a:p>
        </p:txBody>
      </p:sp>
      <p:cxnSp>
        <p:nvCxnSpPr>
          <p:cNvPr id="19" name="Straight Connector 18"/>
          <p:cNvCxnSpPr/>
          <p:nvPr/>
        </p:nvCxnSpPr>
        <p:spPr>
          <a:xfrm>
            <a:off x="1675403" y="496823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318821"/>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554482" y="3970297"/>
            <a:ext cx="11531602" cy="1762560"/>
          </a:xfrm>
        </p:spPr>
        <p:txBody>
          <a:bodyPr anchor="b">
            <a:normAutofit/>
          </a:bodyPr>
          <a:lstStyle>
            <a:lvl1pPr algn="l">
              <a:defRPr sz="3840" b="0" cap="none"/>
            </a:lvl1pPr>
          </a:lstStyle>
          <a:p>
            <a:r>
              <a:rPr lang="en-US"/>
              <a:t>Click to edit Master title style</a:t>
            </a:r>
            <a:endParaRPr lang="en-US" dirty="0"/>
          </a:p>
        </p:txBody>
      </p:sp>
      <p:sp>
        <p:nvSpPr>
          <p:cNvPr id="3" name="Text Placeholder 2"/>
          <p:cNvSpPr>
            <a:spLocks noGrp="1"/>
          </p:cNvSpPr>
          <p:nvPr>
            <p:ph type="body" idx="1"/>
          </p:nvPr>
        </p:nvSpPr>
        <p:spPr>
          <a:xfrm>
            <a:off x="1554481" y="5732857"/>
            <a:ext cx="11531602" cy="1032480"/>
          </a:xfrm>
        </p:spPr>
        <p:txBody>
          <a:bodyPr anchor="t">
            <a:normAutofit/>
          </a:bodyPr>
          <a:lstStyle>
            <a:lvl1pPr marL="0" indent="0" algn="l">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46067921"/>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735455" y="1178558"/>
            <a:ext cx="11155678" cy="2692402"/>
          </a:xfrm>
        </p:spPr>
        <p:txBody>
          <a:bodyPr anchor="ctr">
            <a:normAutofit/>
          </a:bodyPr>
          <a:lstStyle>
            <a:lvl1pPr algn="ctr">
              <a:defRPr sz="384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554481" y="4367174"/>
            <a:ext cx="11531602" cy="1064362"/>
          </a:xfrm>
        </p:spPr>
        <p:txBody>
          <a:bodyPr anchor="b">
            <a:normAutofit/>
          </a:bodyPr>
          <a:lstStyle>
            <a:lvl1pPr marL="0" indent="0" algn="l">
              <a:spcBef>
                <a:spcPts val="0"/>
              </a:spcBef>
              <a:buNone/>
              <a:defRPr sz="288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554481" y="5435600"/>
            <a:ext cx="11531602" cy="1615440"/>
          </a:xfrm>
        </p:spPr>
        <p:txBody>
          <a:bodyPr anchor="t">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1034416" y="1055953"/>
            <a:ext cx="731520" cy="701731"/>
          </a:xfrm>
          <a:prstGeom prst="rect">
            <a:avLst/>
          </a:prstGeom>
        </p:spPr>
        <p:txBody>
          <a:bodyPr vert="horz" lIns="109728" tIns="54864" rIns="109728" bIns="54864" rtlCol="0" anchor="ctr">
            <a:noAutofit/>
          </a:bodyPr>
          <a:lstStyle/>
          <a:p>
            <a:pPr lvl="0"/>
            <a:r>
              <a:rPr lang="en-US" sz="9600" dirty="0">
                <a:solidFill>
                  <a:schemeClr val="tx1"/>
                </a:solidFill>
                <a:effectLst/>
              </a:rPr>
              <a:t>“</a:t>
            </a:r>
          </a:p>
        </p:txBody>
      </p:sp>
      <p:sp>
        <p:nvSpPr>
          <p:cNvPr id="13" name="TextBox 12"/>
          <p:cNvSpPr txBox="1"/>
          <p:nvPr/>
        </p:nvSpPr>
        <p:spPr>
          <a:xfrm>
            <a:off x="12720320" y="3119113"/>
            <a:ext cx="731520" cy="701731"/>
          </a:xfrm>
          <a:prstGeom prst="rect">
            <a:avLst/>
          </a:prstGeom>
        </p:spPr>
        <p:txBody>
          <a:bodyPr vert="horz" lIns="109728" tIns="54864" rIns="109728" bIns="54864" rtlCol="0" anchor="ctr">
            <a:noAutofit/>
          </a:bodyPr>
          <a:lstStyle/>
          <a:p>
            <a:pPr lvl="0" algn="r"/>
            <a:r>
              <a:rPr lang="en-US" sz="9600" dirty="0">
                <a:solidFill>
                  <a:schemeClr val="tx1"/>
                </a:solidFill>
                <a:effectLst/>
              </a:rPr>
              <a:t>”</a:t>
            </a:r>
          </a:p>
        </p:txBody>
      </p:sp>
      <p:cxnSp>
        <p:nvCxnSpPr>
          <p:cNvPr id="26" name="Straight Connector 25"/>
          <p:cNvCxnSpPr/>
          <p:nvPr/>
        </p:nvCxnSpPr>
        <p:spPr>
          <a:xfrm>
            <a:off x="1675403" y="4114800"/>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6120979"/>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554481" y="1178558"/>
            <a:ext cx="11531599" cy="2692402"/>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554481" y="4356201"/>
            <a:ext cx="11531602" cy="1009498"/>
          </a:xfrm>
        </p:spPr>
        <p:txBody>
          <a:bodyPr anchor="b">
            <a:normAutofit/>
          </a:bodyPr>
          <a:lstStyle>
            <a:lvl1pPr marL="0" indent="0" algn="l">
              <a:spcBef>
                <a:spcPts val="0"/>
              </a:spcBef>
              <a:buNone/>
              <a:defRPr sz="33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554480" y="5364480"/>
            <a:ext cx="11531604" cy="1686560"/>
          </a:xfrm>
        </p:spPr>
        <p:txBody>
          <a:bodyPr anchor="t">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675403" y="4114800"/>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6433633"/>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3857422"/>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799228" y="1178558"/>
            <a:ext cx="2269074" cy="587248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54478" y="1178558"/>
            <a:ext cx="8919630" cy="587248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0636668" y="1188720"/>
            <a:ext cx="0" cy="585216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8332597"/>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7272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image" Target="../media/image5.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8883" y="0"/>
            <a:ext cx="14675954" cy="8227457"/>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554483" y="1178559"/>
            <a:ext cx="11521435" cy="156464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54481" y="3068319"/>
            <a:ext cx="11521435" cy="3982723"/>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413001" y="7162800"/>
            <a:ext cx="1920240" cy="33528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B61BEF0D-F0BB-DE4B-95CE-6DB70DBA9567}" type="datetimeFigureOut">
              <a:rPr lang="en-US" dirty="0"/>
              <a:pPr/>
              <a:t>12/23/2025</a:t>
            </a:fld>
            <a:endParaRPr lang="en-US" dirty="0"/>
          </a:p>
        </p:txBody>
      </p:sp>
      <p:sp>
        <p:nvSpPr>
          <p:cNvPr id="5" name="Footer Placeholder 4"/>
          <p:cNvSpPr>
            <a:spLocks noGrp="1"/>
          </p:cNvSpPr>
          <p:nvPr>
            <p:ph type="ftr" sz="quarter" idx="3"/>
          </p:nvPr>
        </p:nvSpPr>
        <p:spPr>
          <a:xfrm>
            <a:off x="1554481" y="7162800"/>
            <a:ext cx="8767080" cy="335280"/>
          </a:xfrm>
          <a:prstGeom prst="rect">
            <a:avLst/>
          </a:prstGeom>
        </p:spPr>
        <p:txBody>
          <a:bodyPr vert="horz" lIns="91440" tIns="45720" rIns="91440" bIns="45720" rtlCol="0" anchor="ctr"/>
          <a:lstStyle>
            <a:lvl1pPr algn="l">
              <a:defRPr sz="12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2424682" y="7162800"/>
            <a:ext cx="651236" cy="33528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371268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sldNum="0" hdr="0" ftr="0" dt="0"/>
  <p:txStyles>
    <p:titleStyle>
      <a:lvl1pPr algn="ctr" defTabSz="548640" rtl="0" eaLnBrk="1" latinLnBrk="0" hangingPunct="1">
        <a:spcBef>
          <a:spcPct val="0"/>
        </a:spcBef>
        <a:buNone/>
        <a:defRPr sz="528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548640" rtl="0" eaLnBrk="1" latinLnBrk="0" hangingPunct="1">
        <a:spcBef>
          <a:spcPct val="20000"/>
        </a:spcBef>
        <a:spcAft>
          <a:spcPts val="720"/>
        </a:spcAft>
        <a:buClr>
          <a:schemeClr val="accent1"/>
        </a:buClr>
        <a:buSzPct val="115000"/>
        <a:buFont typeface="Arial"/>
        <a:buChar char="•"/>
        <a:defRPr sz="2880" kern="1200" cap="none">
          <a:solidFill>
            <a:schemeClr val="tx1">
              <a:lumMod val="85000"/>
              <a:lumOff val="15000"/>
            </a:schemeClr>
          </a:solidFill>
          <a:effectLst/>
          <a:latin typeface="+mn-lt"/>
          <a:ea typeface="+mn-ea"/>
          <a:cs typeface="+mn-cs"/>
        </a:defRPr>
      </a:lvl1pPr>
      <a:lvl2pPr marL="891540" indent="-342900" algn="l" defTabSz="548640" rtl="0" eaLnBrk="1" latinLnBrk="0" hangingPunct="1">
        <a:spcBef>
          <a:spcPct val="20000"/>
        </a:spcBef>
        <a:spcAft>
          <a:spcPts val="72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2pPr>
      <a:lvl3pPr marL="1440180" indent="-342900" algn="l" defTabSz="548640" rtl="0" eaLnBrk="1" latinLnBrk="0" hangingPunct="1">
        <a:spcBef>
          <a:spcPct val="20000"/>
        </a:spcBef>
        <a:spcAft>
          <a:spcPts val="720"/>
        </a:spcAft>
        <a:buClr>
          <a:schemeClr val="accent1"/>
        </a:buClr>
        <a:buSzPct val="115000"/>
        <a:buFont typeface="Arial"/>
        <a:buChar char="•"/>
        <a:defRPr sz="2160" kern="1200" cap="none">
          <a:solidFill>
            <a:schemeClr val="tx1">
              <a:lumMod val="85000"/>
              <a:lumOff val="15000"/>
            </a:schemeClr>
          </a:solidFill>
          <a:effectLst/>
          <a:latin typeface="+mn-lt"/>
          <a:ea typeface="+mn-ea"/>
          <a:cs typeface="+mn-cs"/>
        </a:defRPr>
      </a:lvl3pPr>
      <a:lvl4pPr marL="1851660" indent="-205740" algn="l" defTabSz="548640" rtl="0" eaLnBrk="1" latinLnBrk="0" hangingPunct="1">
        <a:spcBef>
          <a:spcPct val="20000"/>
        </a:spcBef>
        <a:spcAft>
          <a:spcPts val="720"/>
        </a:spcAft>
        <a:buClr>
          <a:schemeClr val="accent1"/>
        </a:buClr>
        <a:buSzPct val="115000"/>
        <a:buFont typeface="Arial"/>
        <a:buChar char="•"/>
        <a:defRPr sz="1920" kern="1200" cap="none">
          <a:solidFill>
            <a:schemeClr val="tx1">
              <a:lumMod val="85000"/>
              <a:lumOff val="15000"/>
            </a:schemeClr>
          </a:solidFill>
          <a:effectLst/>
          <a:latin typeface="+mn-lt"/>
          <a:ea typeface="+mn-ea"/>
          <a:cs typeface="+mn-cs"/>
        </a:defRPr>
      </a:lvl4pPr>
      <a:lvl5pPr marL="2400300" indent="-20574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5pPr>
      <a:lvl6pPr marL="3017520" indent="-27432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6pPr>
      <a:lvl7pPr marL="3566160" indent="-27432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7pPr>
      <a:lvl8pPr marL="4114800" indent="-27432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8pPr>
      <a:lvl9pPr marL="4663440" indent="-27432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8.png"/><Relationship Id="rId7" Type="http://schemas.openxmlformats.org/officeDocument/2006/relationships/diagramColors" Target="../diagrams/colors1.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355C02-734B-A387-0CE1-F63277D94E5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26742"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0">
            <a:extLst>
              <a:ext uri="{FF2B5EF4-FFF2-40B4-BE49-F238E27FC236}">
                <a16:creationId xmlns:a16="http://schemas.microsoft.com/office/drawing/2014/main" id="{7394B034-5B67-026E-24C5-3BDF48D390E3}"/>
              </a:ext>
            </a:extLst>
          </p:cNvPr>
          <p:cNvSpPr/>
          <p:nvPr/>
        </p:nvSpPr>
        <p:spPr>
          <a:xfrm>
            <a:off x="6357314" y="395020"/>
            <a:ext cx="7501332" cy="2139696"/>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6500">
                <a:latin typeface="+mj-lt"/>
                <a:ea typeface="+mj-ea"/>
                <a:cs typeface="+mj-cs"/>
              </a:rPr>
              <a:t>Chatbot client-server</a:t>
            </a:r>
          </a:p>
        </p:txBody>
      </p:sp>
      <p:pic>
        <p:nvPicPr>
          <p:cNvPr id="2" name="Image 0" descr="preencoded.png">
            <a:extLst>
              <a:ext uri="{FF2B5EF4-FFF2-40B4-BE49-F238E27FC236}">
                <a16:creationId xmlns:a16="http://schemas.microsoft.com/office/drawing/2014/main" id="{B00FC7B7-0F14-074F-FEAB-E429CF6DAD95}"/>
              </a:ext>
            </a:extLst>
          </p:cNvPr>
          <p:cNvPicPr>
            <a:picLocks noChangeAspect="1"/>
          </p:cNvPicPr>
          <p:nvPr/>
        </p:nvPicPr>
        <p:blipFill>
          <a:blip r:embed="rId3"/>
          <a:srcRect r="1" b="1710"/>
          <a:stretch>
            <a:fillRect/>
          </a:stretch>
        </p:blipFill>
        <p:spPr>
          <a:xfrm>
            <a:off x="1" y="10"/>
            <a:ext cx="5588813" cy="82295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57314" y="2849936"/>
            <a:ext cx="5092307" cy="21946"/>
          </a:xfrm>
          <a:custGeom>
            <a:avLst/>
            <a:gdLst>
              <a:gd name="csX0" fmla="*/ 0 w 5092307"/>
              <a:gd name="csY0" fmla="*/ 0 h 21946"/>
              <a:gd name="csX1" fmla="*/ 483769 w 5092307"/>
              <a:gd name="csY1" fmla="*/ 0 h 21946"/>
              <a:gd name="csX2" fmla="*/ 1222154 w 5092307"/>
              <a:gd name="csY2" fmla="*/ 0 h 21946"/>
              <a:gd name="csX3" fmla="*/ 1756846 w 5092307"/>
              <a:gd name="csY3" fmla="*/ 0 h 21946"/>
              <a:gd name="csX4" fmla="*/ 2291538 w 5092307"/>
              <a:gd name="csY4" fmla="*/ 0 h 21946"/>
              <a:gd name="csX5" fmla="*/ 2979000 w 5092307"/>
              <a:gd name="csY5" fmla="*/ 0 h 21946"/>
              <a:gd name="csX6" fmla="*/ 3666461 w 5092307"/>
              <a:gd name="csY6" fmla="*/ 0 h 21946"/>
              <a:gd name="csX7" fmla="*/ 4252076 w 5092307"/>
              <a:gd name="csY7" fmla="*/ 0 h 21946"/>
              <a:gd name="csX8" fmla="*/ 5092307 w 5092307"/>
              <a:gd name="csY8" fmla="*/ 0 h 21946"/>
              <a:gd name="csX9" fmla="*/ 5092307 w 5092307"/>
              <a:gd name="csY9" fmla="*/ 21946 h 21946"/>
              <a:gd name="csX10" fmla="*/ 4455769 w 5092307"/>
              <a:gd name="csY10" fmla="*/ 21946 h 21946"/>
              <a:gd name="csX11" fmla="*/ 3717384 w 5092307"/>
              <a:gd name="csY11" fmla="*/ 21946 h 21946"/>
              <a:gd name="csX12" fmla="*/ 3233615 w 5092307"/>
              <a:gd name="csY12" fmla="*/ 21946 h 21946"/>
              <a:gd name="csX13" fmla="*/ 2546154 w 5092307"/>
              <a:gd name="csY13" fmla="*/ 21946 h 21946"/>
              <a:gd name="csX14" fmla="*/ 1960538 w 5092307"/>
              <a:gd name="csY14" fmla="*/ 21946 h 21946"/>
              <a:gd name="csX15" fmla="*/ 1374923 w 5092307"/>
              <a:gd name="csY15" fmla="*/ 21946 h 21946"/>
              <a:gd name="csX16" fmla="*/ 738385 w 5092307"/>
              <a:gd name="csY16" fmla="*/ 21946 h 21946"/>
              <a:gd name="csX17" fmla="*/ 0 w 5092307"/>
              <a:gd name="csY17" fmla="*/ 21946 h 21946"/>
              <a:gd name="csX18" fmla="*/ 0 w 5092307"/>
              <a:gd name="csY18" fmla="*/ 0 h 219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92307" h="21946" fill="none" extrusionOk="0">
                <a:moveTo>
                  <a:pt x="0" y="0"/>
                </a:moveTo>
                <a:cubicBezTo>
                  <a:pt x="126622" y="2207"/>
                  <a:pt x="310281" y="-9618"/>
                  <a:pt x="483769" y="0"/>
                </a:cubicBezTo>
                <a:cubicBezTo>
                  <a:pt x="657257" y="9618"/>
                  <a:pt x="962372" y="-35609"/>
                  <a:pt x="1222154" y="0"/>
                </a:cubicBezTo>
                <a:cubicBezTo>
                  <a:pt x="1481937" y="35609"/>
                  <a:pt x="1599378" y="20188"/>
                  <a:pt x="1756846" y="0"/>
                </a:cubicBezTo>
                <a:cubicBezTo>
                  <a:pt x="1914314" y="-20188"/>
                  <a:pt x="2080092" y="-5105"/>
                  <a:pt x="2291538" y="0"/>
                </a:cubicBezTo>
                <a:cubicBezTo>
                  <a:pt x="2502984" y="5105"/>
                  <a:pt x="2714641" y="617"/>
                  <a:pt x="2979000" y="0"/>
                </a:cubicBezTo>
                <a:cubicBezTo>
                  <a:pt x="3243359" y="-617"/>
                  <a:pt x="3339677" y="-32878"/>
                  <a:pt x="3666461" y="0"/>
                </a:cubicBezTo>
                <a:cubicBezTo>
                  <a:pt x="3993245" y="32878"/>
                  <a:pt x="3959356" y="10646"/>
                  <a:pt x="4252076" y="0"/>
                </a:cubicBezTo>
                <a:cubicBezTo>
                  <a:pt x="4544797" y="-10646"/>
                  <a:pt x="4803806" y="-6208"/>
                  <a:pt x="5092307" y="0"/>
                </a:cubicBezTo>
                <a:cubicBezTo>
                  <a:pt x="5092586" y="4631"/>
                  <a:pt x="5092360" y="16862"/>
                  <a:pt x="5092307" y="21946"/>
                </a:cubicBezTo>
                <a:cubicBezTo>
                  <a:pt x="4963024" y="39542"/>
                  <a:pt x="4769693" y="24041"/>
                  <a:pt x="4455769" y="21946"/>
                </a:cubicBezTo>
                <a:cubicBezTo>
                  <a:pt x="4141845" y="19851"/>
                  <a:pt x="3943439" y="-13029"/>
                  <a:pt x="3717384" y="21946"/>
                </a:cubicBezTo>
                <a:cubicBezTo>
                  <a:pt x="3491329" y="56921"/>
                  <a:pt x="3361256" y="34282"/>
                  <a:pt x="3233615" y="21946"/>
                </a:cubicBezTo>
                <a:cubicBezTo>
                  <a:pt x="3105974" y="9610"/>
                  <a:pt x="2872163" y="30197"/>
                  <a:pt x="2546154" y="21946"/>
                </a:cubicBezTo>
                <a:cubicBezTo>
                  <a:pt x="2220145" y="13695"/>
                  <a:pt x="2168829" y="22450"/>
                  <a:pt x="1960538" y="21946"/>
                </a:cubicBezTo>
                <a:cubicBezTo>
                  <a:pt x="1752247" y="21442"/>
                  <a:pt x="1523678" y="13932"/>
                  <a:pt x="1374923" y="21946"/>
                </a:cubicBezTo>
                <a:cubicBezTo>
                  <a:pt x="1226168" y="29960"/>
                  <a:pt x="928094" y="36837"/>
                  <a:pt x="738385" y="21946"/>
                </a:cubicBezTo>
                <a:cubicBezTo>
                  <a:pt x="548676" y="7055"/>
                  <a:pt x="168941" y="-5592"/>
                  <a:pt x="0" y="21946"/>
                </a:cubicBezTo>
                <a:cubicBezTo>
                  <a:pt x="287" y="12071"/>
                  <a:pt x="-113" y="6250"/>
                  <a:pt x="0" y="0"/>
                </a:cubicBezTo>
                <a:close/>
              </a:path>
              <a:path w="5092307" h="21946" stroke="0" extrusionOk="0">
                <a:moveTo>
                  <a:pt x="0" y="0"/>
                </a:moveTo>
                <a:cubicBezTo>
                  <a:pt x="123076" y="8408"/>
                  <a:pt x="290804" y="2227"/>
                  <a:pt x="534692" y="0"/>
                </a:cubicBezTo>
                <a:cubicBezTo>
                  <a:pt x="778580" y="-2227"/>
                  <a:pt x="855490" y="-16962"/>
                  <a:pt x="1018461" y="0"/>
                </a:cubicBezTo>
                <a:cubicBezTo>
                  <a:pt x="1181432" y="16962"/>
                  <a:pt x="1320664" y="19870"/>
                  <a:pt x="1553154" y="0"/>
                </a:cubicBezTo>
                <a:cubicBezTo>
                  <a:pt x="1785644" y="-19870"/>
                  <a:pt x="2036509" y="-20672"/>
                  <a:pt x="2189692" y="0"/>
                </a:cubicBezTo>
                <a:cubicBezTo>
                  <a:pt x="2342875" y="20672"/>
                  <a:pt x="2544654" y="-33332"/>
                  <a:pt x="2877153" y="0"/>
                </a:cubicBezTo>
                <a:cubicBezTo>
                  <a:pt x="3209652" y="33332"/>
                  <a:pt x="3394712" y="30818"/>
                  <a:pt x="3615538" y="0"/>
                </a:cubicBezTo>
                <a:cubicBezTo>
                  <a:pt x="3836364" y="-30818"/>
                  <a:pt x="4201667" y="-30590"/>
                  <a:pt x="4353922" y="0"/>
                </a:cubicBezTo>
                <a:cubicBezTo>
                  <a:pt x="4506177" y="30590"/>
                  <a:pt x="4855479" y="18332"/>
                  <a:pt x="5092307" y="0"/>
                </a:cubicBezTo>
                <a:cubicBezTo>
                  <a:pt x="5091574" y="4400"/>
                  <a:pt x="5092005" y="11744"/>
                  <a:pt x="5092307" y="21946"/>
                </a:cubicBezTo>
                <a:cubicBezTo>
                  <a:pt x="4864916" y="7468"/>
                  <a:pt x="4690539" y="13687"/>
                  <a:pt x="4557615" y="21946"/>
                </a:cubicBezTo>
                <a:cubicBezTo>
                  <a:pt x="4424691" y="30205"/>
                  <a:pt x="4076201" y="51864"/>
                  <a:pt x="3819230" y="21946"/>
                </a:cubicBezTo>
                <a:cubicBezTo>
                  <a:pt x="3562259" y="-7972"/>
                  <a:pt x="3498341" y="13372"/>
                  <a:pt x="3335461" y="21946"/>
                </a:cubicBezTo>
                <a:cubicBezTo>
                  <a:pt x="3172581" y="30520"/>
                  <a:pt x="2979939" y="3719"/>
                  <a:pt x="2648000" y="21946"/>
                </a:cubicBezTo>
                <a:cubicBezTo>
                  <a:pt x="2316061" y="40173"/>
                  <a:pt x="2286972" y="9792"/>
                  <a:pt x="2062384" y="21946"/>
                </a:cubicBezTo>
                <a:cubicBezTo>
                  <a:pt x="1837796" y="34100"/>
                  <a:pt x="1672241" y="1952"/>
                  <a:pt x="1476769" y="21946"/>
                </a:cubicBezTo>
                <a:cubicBezTo>
                  <a:pt x="1281297" y="41940"/>
                  <a:pt x="975566" y="5945"/>
                  <a:pt x="738385" y="21946"/>
                </a:cubicBezTo>
                <a:cubicBezTo>
                  <a:pt x="501204" y="37947"/>
                  <a:pt x="163670" y="-14697"/>
                  <a:pt x="0" y="21946"/>
                </a:cubicBezTo>
                <a:cubicBezTo>
                  <a:pt x="-116" y="15135"/>
                  <a:pt x="-209" y="796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1">
            <a:extLst>
              <a:ext uri="{FF2B5EF4-FFF2-40B4-BE49-F238E27FC236}">
                <a16:creationId xmlns:a16="http://schemas.microsoft.com/office/drawing/2014/main" id="{48649842-F82A-DA0F-29A4-6877414D2BC2}"/>
              </a:ext>
            </a:extLst>
          </p:cNvPr>
          <p:cNvSpPr/>
          <p:nvPr/>
        </p:nvSpPr>
        <p:spPr>
          <a:xfrm>
            <a:off x="6357314" y="3247948"/>
            <a:ext cx="7501332" cy="4180637"/>
          </a:xfrm>
          <a:prstGeom prst="rect">
            <a:avLst/>
          </a:prstGeom>
        </p:spPr>
        <p:txBody>
          <a:bodyPr vert="horz" lIns="91440" tIns="45720" rIns="91440" bIns="45720" rtlCol="0">
            <a:normAutofit/>
          </a:bodyPr>
          <a:lstStyle/>
          <a:p>
            <a:pPr marL="0" indent="-228600">
              <a:lnSpc>
                <a:spcPct val="90000"/>
              </a:lnSpc>
              <a:spcAft>
                <a:spcPts val="600"/>
              </a:spcAft>
              <a:buFont typeface="Arial" panose="020B0604020202020204" pitchFamily="34" charset="0"/>
              <a:buChar char="•"/>
            </a:pPr>
            <a:r>
              <a:rPr lang="en-US" sz="2600" dirty="0"/>
              <a:t>This project focuses on building a client–server chat application with a chatbot-enabled server. The system is designed to allow multiple clients to connect simultaneously and communicate with a server that responds automatically using a simple chatbot logic.</a:t>
            </a:r>
          </a:p>
        </p:txBody>
      </p:sp>
    </p:spTree>
    <p:extLst>
      <p:ext uri="{BB962C8B-B14F-4D97-AF65-F5344CB8AC3E}">
        <p14:creationId xmlns:p14="http://schemas.microsoft.com/office/powerpoint/2010/main" val="163099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EF3ADC-9D03-348B-A493-A4E951A1BB4C}"/>
              </a:ext>
            </a:extLst>
          </p:cNvPr>
          <p:cNvSpPr txBox="1"/>
          <p:nvPr/>
        </p:nvSpPr>
        <p:spPr>
          <a:xfrm>
            <a:off x="1302255" y="1560254"/>
            <a:ext cx="7187542" cy="5109091"/>
          </a:xfrm>
          <a:prstGeom prst="rect">
            <a:avLst/>
          </a:prstGeom>
          <a:noFill/>
        </p:spPr>
        <p:txBody>
          <a:bodyPr wrap="square">
            <a:spAutoFit/>
          </a:bodyPr>
          <a:lstStyle/>
          <a:p>
            <a:pPr algn="ctr">
              <a:buNone/>
            </a:pPr>
            <a:endParaRPr lang="en-US" sz="2000" b="1" dirty="0">
              <a:latin typeface="Open Sans" panose="020B0606030504020204" pitchFamily="34" charset="0"/>
              <a:ea typeface="Open Sans" panose="020B0606030504020204" pitchFamily="34" charset="0"/>
              <a:cs typeface="Open Sans" panose="020B0606030504020204" pitchFamily="34" charset="0"/>
            </a:endParaRPr>
          </a:p>
          <a:p>
            <a:pPr>
              <a:buNone/>
            </a:pPr>
            <a:endParaRPr lang="en-US" sz="1600" b="1" dirty="0">
              <a:latin typeface="Open Sans" panose="020B0606030504020204" pitchFamily="34" charset="0"/>
              <a:ea typeface="Open Sans" panose="020B0606030504020204" pitchFamily="34" charset="0"/>
              <a:cs typeface="Open Sans" panose="020B0606030504020204" pitchFamily="34" charset="0"/>
            </a:endParaRPr>
          </a:p>
          <a:p>
            <a:pPr>
              <a:buNone/>
            </a:pPr>
            <a:endParaRPr lang="en-US" sz="1600" b="1" dirty="0">
              <a:latin typeface="Open Sans" panose="020B0606030504020204" pitchFamily="34" charset="0"/>
              <a:ea typeface="Open Sans" panose="020B0606030504020204" pitchFamily="34" charset="0"/>
              <a:cs typeface="Open Sans" panose="020B0606030504020204" pitchFamily="34" charset="0"/>
            </a:endParaRPr>
          </a:p>
          <a:p>
            <a:r>
              <a:rPr lang="en-US" b="1" dirty="0">
                <a:latin typeface="Open Sans" panose="020B0606030504020204" pitchFamily="34" charset="0"/>
                <a:ea typeface="Open Sans" panose="020B0606030504020204" pitchFamily="34" charset="0"/>
                <a:cs typeface="Open Sans" panose="020B0606030504020204" pitchFamily="34" charset="0"/>
              </a:rPr>
              <a:t>1) Rule-Based Chatbots:</a:t>
            </a:r>
          </a:p>
          <a:p>
            <a:pPr marL="285750" indent="-285750">
              <a:buFont typeface="Arial" panose="020B0604020202020204" pitchFamily="34" charset="0"/>
              <a:buChar char="•"/>
            </a:pPr>
            <a:endParaRPr lang="en-US" b="1" dirty="0">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Follow predefined rules and keywords (“Hello” → “Hi”). </a:t>
            </a:r>
          </a:p>
          <a:p>
            <a:pPr marL="285750" indent="-285750">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Limited to expected inputs.</a:t>
            </a:r>
          </a:p>
          <a:p>
            <a:br>
              <a:rPr lang="en-US" dirty="0">
                <a:latin typeface="Open Sans" panose="020B0606030504020204" pitchFamily="34" charset="0"/>
                <a:ea typeface="Open Sans" panose="020B0606030504020204" pitchFamily="34" charset="0"/>
                <a:cs typeface="Open Sans" panose="020B0606030504020204" pitchFamily="34" charset="0"/>
              </a:rPr>
            </a:br>
            <a:br>
              <a:rPr lang="en-US" dirty="0">
                <a:latin typeface="Open Sans" panose="020B0606030504020204" pitchFamily="34" charset="0"/>
                <a:ea typeface="Open Sans" panose="020B0606030504020204" pitchFamily="34" charset="0"/>
                <a:cs typeface="Open Sans" panose="020B0606030504020204" pitchFamily="34" charset="0"/>
              </a:rPr>
            </a:br>
            <a:endParaRPr lang="en-US" dirty="0">
              <a:latin typeface="Open Sans" panose="020B0606030504020204" pitchFamily="34" charset="0"/>
              <a:ea typeface="Open Sans" panose="020B0606030504020204" pitchFamily="34" charset="0"/>
              <a:cs typeface="Open Sans" panose="020B0606030504020204" pitchFamily="34" charset="0"/>
            </a:endParaRPr>
          </a:p>
          <a:p>
            <a:endParaRPr lang="en-US" dirty="0">
              <a:latin typeface="Open Sans" panose="020B0606030504020204" pitchFamily="34" charset="0"/>
              <a:ea typeface="Open Sans" panose="020B0606030504020204" pitchFamily="34" charset="0"/>
              <a:cs typeface="Open Sans" panose="020B0606030504020204" pitchFamily="34" charset="0"/>
            </a:endParaRPr>
          </a:p>
          <a:p>
            <a:endParaRPr lang="en-US" dirty="0">
              <a:latin typeface="Open Sans" panose="020B0606030504020204" pitchFamily="34" charset="0"/>
              <a:ea typeface="Open Sans" panose="020B0606030504020204" pitchFamily="34" charset="0"/>
              <a:cs typeface="Open Sans" panose="020B0606030504020204" pitchFamily="34" charset="0"/>
            </a:endParaRPr>
          </a:p>
          <a:p>
            <a:pPr>
              <a:buNone/>
            </a:pPr>
            <a:r>
              <a:rPr lang="en-US" sz="2000" b="1" dirty="0">
                <a:latin typeface="Open Sans" panose="020B0606030504020204" pitchFamily="34" charset="0"/>
                <a:ea typeface="Open Sans" panose="020B0606030504020204" pitchFamily="34" charset="0"/>
                <a:cs typeface="Open Sans" panose="020B0606030504020204" pitchFamily="34" charset="0"/>
              </a:rPr>
              <a:t>Key Features</a:t>
            </a:r>
          </a:p>
          <a:p>
            <a:pPr>
              <a:buNone/>
            </a:pPr>
            <a:endParaRPr lang="en-US" sz="2000" b="1" dirty="0">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Available </a:t>
            </a:r>
            <a:r>
              <a:rPr lang="en-US" b="1" dirty="0">
                <a:latin typeface="Open Sans" panose="020B0606030504020204" pitchFamily="34" charset="0"/>
                <a:ea typeface="Open Sans" panose="020B0606030504020204" pitchFamily="34" charset="0"/>
                <a:cs typeface="Open Sans" panose="020B0606030504020204" pitchFamily="34" charset="0"/>
              </a:rPr>
              <a:t>24/7</a:t>
            </a:r>
          </a:p>
          <a:p>
            <a:pPr marL="285750" indent="-285750">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Instant responses</a:t>
            </a:r>
          </a:p>
          <a:p>
            <a:pPr marL="285750" indent="-285750">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Reduces repetitive human work</a:t>
            </a:r>
          </a:p>
          <a:p>
            <a:pPr marL="285750" indent="-285750">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Used in customer service, sales, education, and bookings</a:t>
            </a:r>
          </a:p>
        </p:txBody>
      </p:sp>
      <p:sp>
        <p:nvSpPr>
          <p:cNvPr id="4" name="TextBox 3">
            <a:extLst>
              <a:ext uri="{FF2B5EF4-FFF2-40B4-BE49-F238E27FC236}">
                <a16:creationId xmlns:a16="http://schemas.microsoft.com/office/drawing/2014/main" id="{1A160494-78BD-F3F6-8AB8-3DBA61E6D264}"/>
              </a:ext>
            </a:extLst>
          </p:cNvPr>
          <p:cNvSpPr txBox="1"/>
          <p:nvPr/>
        </p:nvSpPr>
        <p:spPr>
          <a:xfrm>
            <a:off x="6492240" y="677732"/>
            <a:ext cx="1904103" cy="646331"/>
          </a:xfrm>
          <a:prstGeom prst="rect">
            <a:avLst/>
          </a:prstGeom>
          <a:noFill/>
        </p:spPr>
        <p:txBody>
          <a:bodyPr wrap="square" rtlCol="0">
            <a:spAutoFit/>
          </a:bodyPr>
          <a:lstStyle/>
          <a:p>
            <a:r>
              <a:rPr lang="en-US" sz="3600" dirty="0">
                <a:latin typeface="+mj-lt"/>
              </a:rPr>
              <a:t>Chatbots</a:t>
            </a:r>
          </a:p>
        </p:txBody>
      </p:sp>
      <p:sp>
        <p:nvSpPr>
          <p:cNvPr id="6" name="TextBox 5">
            <a:extLst>
              <a:ext uri="{FF2B5EF4-FFF2-40B4-BE49-F238E27FC236}">
                <a16:creationId xmlns:a16="http://schemas.microsoft.com/office/drawing/2014/main" id="{1192669D-9B7A-25DB-14A5-957F45C7E3F8}"/>
              </a:ext>
            </a:extLst>
          </p:cNvPr>
          <p:cNvSpPr txBox="1"/>
          <p:nvPr/>
        </p:nvSpPr>
        <p:spPr>
          <a:xfrm>
            <a:off x="9172328" y="2336057"/>
            <a:ext cx="4249271" cy="2031325"/>
          </a:xfrm>
          <a:prstGeom prst="rect">
            <a:avLst/>
          </a:prstGeom>
          <a:noFill/>
        </p:spPr>
        <p:txBody>
          <a:bodyPr wrap="square" rtlCol="0">
            <a:spAutoFit/>
          </a:bodyPr>
          <a:lstStyle/>
          <a:p>
            <a:r>
              <a:rPr lang="en-US" b="1" dirty="0">
                <a:latin typeface="Open Sans" panose="020B0606030504020204" pitchFamily="34" charset="0"/>
                <a:ea typeface="Open Sans" panose="020B0606030504020204" pitchFamily="34" charset="0"/>
                <a:cs typeface="Open Sans" panose="020B0606030504020204" pitchFamily="34" charset="0"/>
              </a:rPr>
              <a:t>2) AI-Powered Chatbots:</a:t>
            </a:r>
          </a:p>
          <a:p>
            <a:pPr marL="285750" indent="-285750">
              <a:buFont typeface="Arial" panose="020B0604020202020204" pitchFamily="34" charset="0"/>
              <a:buChar char="•"/>
            </a:pPr>
            <a:endParaRPr lang="en-US" b="1" dirty="0">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Use artificial intelligence to understand and respond to new </a:t>
            </a:r>
            <a:br>
              <a:rPr lang="en-US" dirty="0">
                <a:latin typeface="Open Sans" panose="020B0606030504020204" pitchFamily="34" charset="0"/>
                <a:ea typeface="Open Sans" panose="020B0606030504020204" pitchFamily="34" charset="0"/>
                <a:cs typeface="Open Sans" panose="020B0606030504020204" pitchFamily="34" charset="0"/>
              </a:rPr>
            </a:br>
            <a:r>
              <a:rPr lang="en-US" dirty="0">
                <a:latin typeface="Open Sans" panose="020B0606030504020204" pitchFamily="34" charset="0"/>
                <a:ea typeface="Open Sans" panose="020B0606030504020204" pitchFamily="34" charset="0"/>
                <a:cs typeface="Open Sans" panose="020B0606030504020204" pitchFamily="34" charset="0"/>
              </a:rPr>
              <a:t>questions</a:t>
            </a:r>
          </a:p>
          <a:p>
            <a:pPr marL="285750" indent="-285750">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Example (ChatGPT, Siri, Alexa).</a:t>
            </a:r>
            <a:br>
              <a:rPr lang="en-US" dirty="0">
                <a:latin typeface="Open Sans" panose="020B0606030504020204" pitchFamily="34" charset="0"/>
                <a:ea typeface="Open Sans" panose="020B0606030504020204" pitchFamily="34" charset="0"/>
                <a:cs typeface="Open Sans" panose="020B0606030504020204" pitchFamily="34" charset="0"/>
              </a:rPr>
            </a:b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032954A4-6D28-8041-1D23-360C2CEAF0BA}"/>
              </a:ext>
            </a:extLst>
          </p:cNvPr>
          <p:cNvSpPr txBox="1"/>
          <p:nvPr/>
        </p:nvSpPr>
        <p:spPr>
          <a:xfrm>
            <a:off x="9172328" y="4803997"/>
            <a:ext cx="2926079" cy="2308324"/>
          </a:xfrm>
          <a:prstGeom prst="rect">
            <a:avLst/>
          </a:prstGeom>
          <a:noFill/>
        </p:spPr>
        <p:txBody>
          <a:bodyPr wrap="square" rtlCol="0">
            <a:spAutoFit/>
          </a:bodyPr>
          <a:lstStyle/>
          <a:p>
            <a:pPr>
              <a:buNone/>
            </a:pPr>
            <a:r>
              <a:rPr lang="en-US" b="1" dirty="0">
                <a:latin typeface="Open Sans" panose="020B0606030504020204" pitchFamily="34" charset="0"/>
                <a:ea typeface="Open Sans" panose="020B0606030504020204" pitchFamily="34" charset="0"/>
                <a:cs typeface="Open Sans" panose="020B0606030504020204" pitchFamily="34" charset="0"/>
              </a:rPr>
              <a:t>Everyday Examples</a:t>
            </a:r>
          </a:p>
          <a:p>
            <a:pPr>
              <a:buNone/>
            </a:pPr>
            <a:endParaRPr lang="en-US" b="1" dirty="0">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WhatsApp customer support bots</a:t>
            </a:r>
          </a:p>
          <a:p>
            <a:pPr marL="285750" indent="-285750">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Banking website chat assistants</a:t>
            </a:r>
          </a:p>
          <a:p>
            <a:pPr marL="285750" indent="-285750">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ChatGPT for learning and problem-solving</a:t>
            </a:r>
          </a:p>
        </p:txBody>
      </p:sp>
    </p:spTree>
    <p:extLst>
      <p:ext uri="{BB962C8B-B14F-4D97-AF65-F5344CB8AC3E}">
        <p14:creationId xmlns:p14="http://schemas.microsoft.com/office/powerpoint/2010/main" val="2662516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5329" y="899517"/>
            <a:ext cx="9606082" cy="647700"/>
          </a:xfrm>
          <a:prstGeom prst="rect">
            <a:avLst/>
          </a:prstGeom>
          <a:noFill/>
          <a:ln/>
        </p:spPr>
        <p:txBody>
          <a:bodyPr wrap="none" lIns="0" tIns="0" rIns="0" bIns="0" rtlCol="0" anchor="t"/>
          <a:lstStyle/>
          <a:p>
            <a:pPr marL="0" indent="0" algn="l">
              <a:lnSpc>
                <a:spcPts val="5050"/>
              </a:lnSpc>
              <a:buNone/>
            </a:pPr>
            <a:r>
              <a:rPr lang="en-US" sz="4050" dirty="0">
                <a:solidFill>
                  <a:srgbClr val="2C3F42"/>
                </a:solidFill>
                <a:latin typeface="Bitter Medium" pitchFamily="34" charset="0"/>
                <a:ea typeface="Bitter Medium" pitchFamily="34" charset="-122"/>
                <a:cs typeface="Bitter Medium" pitchFamily="34" charset="-120"/>
              </a:rPr>
              <a:t>Chatbot Responses: Rules and Emotions</a:t>
            </a:r>
            <a:endParaRPr lang="en-US" sz="4050" dirty="0"/>
          </a:p>
        </p:txBody>
      </p:sp>
      <p:sp>
        <p:nvSpPr>
          <p:cNvPr id="3" name="Text 1"/>
          <p:cNvSpPr/>
          <p:nvPr/>
        </p:nvSpPr>
        <p:spPr>
          <a:xfrm>
            <a:off x="725329" y="1961674"/>
            <a:ext cx="13179743" cy="663178"/>
          </a:xfrm>
          <a:prstGeom prst="rect">
            <a:avLst/>
          </a:prstGeom>
          <a:noFill/>
          <a:ln/>
        </p:spPr>
        <p:txBody>
          <a:bodyPr wrap="square" lIns="0" tIns="0" rIns="0" bIns="0" rtlCol="0" anchor="t"/>
          <a:lstStyle/>
          <a:p>
            <a:pPr marL="0" indent="0" algn="l">
              <a:lnSpc>
                <a:spcPts val="2600"/>
              </a:lnSpc>
              <a:buNone/>
            </a:pPr>
            <a:r>
              <a:rPr lang="en-US" sz="1600" dirty="0">
                <a:solidFill>
                  <a:srgbClr val="2B2E3C"/>
                </a:solidFill>
                <a:latin typeface="Open Sans" pitchFamily="34" charset="0"/>
                <a:ea typeface="Open Sans" pitchFamily="34" charset="-122"/>
                <a:cs typeface="Open Sans" pitchFamily="34" charset="-120"/>
              </a:rPr>
              <a:t>The chatbot's responses are defined in a Python dictionary, categorized for various interactions. This section details the predefined responses for different user inputs.</a:t>
            </a:r>
            <a:endParaRPr lang="en-US" sz="1600" dirty="0"/>
          </a:p>
        </p:txBody>
      </p:sp>
      <p:sp>
        <p:nvSpPr>
          <p:cNvPr id="4" name="Shape 2"/>
          <p:cNvSpPr/>
          <p:nvPr/>
        </p:nvSpPr>
        <p:spPr>
          <a:xfrm>
            <a:off x="725329" y="2857976"/>
            <a:ext cx="4255056" cy="4472107"/>
          </a:xfrm>
          <a:prstGeom prst="roundRect">
            <a:avLst>
              <a:gd name="adj" fmla="val 2579"/>
            </a:avLst>
          </a:prstGeom>
          <a:solidFill>
            <a:srgbClr val="FFF8F0"/>
          </a:solidFill>
          <a:ln w="22860">
            <a:solidFill>
              <a:srgbClr val="E2C8B5"/>
            </a:solidFill>
            <a:prstDash val="solid"/>
          </a:ln>
        </p:spPr>
        <p:txBody>
          <a:bodyPr/>
          <a:lstStyle/>
          <a:p>
            <a:endParaRPr lang="en-US"/>
          </a:p>
        </p:txBody>
      </p:sp>
      <p:sp>
        <p:nvSpPr>
          <p:cNvPr id="5" name="Shape 3"/>
          <p:cNvSpPr/>
          <p:nvPr/>
        </p:nvSpPr>
        <p:spPr>
          <a:xfrm>
            <a:off x="702469" y="2857976"/>
            <a:ext cx="91440" cy="4472107"/>
          </a:xfrm>
          <a:prstGeom prst="roundRect">
            <a:avLst>
              <a:gd name="adj" fmla="val 95195"/>
            </a:avLst>
          </a:prstGeom>
          <a:solidFill>
            <a:srgbClr val="D2600F"/>
          </a:solidFill>
          <a:ln/>
        </p:spPr>
        <p:txBody>
          <a:bodyPr/>
          <a:lstStyle/>
          <a:p>
            <a:endParaRPr lang="en-US"/>
          </a:p>
        </p:txBody>
      </p:sp>
      <p:sp>
        <p:nvSpPr>
          <p:cNvPr id="6" name="Text 4"/>
          <p:cNvSpPr/>
          <p:nvPr/>
        </p:nvSpPr>
        <p:spPr>
          <a:xfrm>
            <a:off x="1023938" y="3088005"/>
            <a:ext cx="2590562" cy="323850"/>
          </a:xfrm>
          <a:prstGeom prst="rect">
            <a:avLst/>
          </a:prstGeom>
          <a:noFill/>
          <a:ln/>
        </p:spPr>
        <p:txBody>
          <a:bodyPr wrap="none" lIns="0" tIns="0" rIns="0" bIns="0" rtlCol="0" anchor="t"/>
          <a:lstStyle/>
          <a:p>
            <a:pPr marL="0" indent="0" algn="l">
              <a:lnSpc>
                <a:spcPts val="2500"/>
              </a:lnSpc>
              <a:buNone/>
            </a:pPr>
            <a:r>
              <a:rPr lang="en-US" sz="2000" dirty="0">
                <a:solidFill>
                  <a:srgbClr val="2B2E3C"/>
                </a:solidFill>
                <a:latin typeface="Bitter Medium" pitchFamily="34" charset="0"/>
                <a:ea typeface="Bitter Medium" pitchFamily="34" charset="-122"/>
                <a:cs typeface="Bitter Medium" pitchFamily="34" charset="-120"/>
              </a:rPr>
              <a:t>Greetings</a:t>
            </a:r>
            <a:endParaRPr lang="en-US" sz="2000" dirty="0"/>
          </a:p>
        </p:txBody>
      </p:sp>
      <p:sp>
        <p:nvSpPr>
          <p:cNvPr id="7" name="Text 5"/>
          <p:cNvSpPr/>
          <p:nvPr/>
        </p:nvSpPr>
        <p:spPr>
          <a:xfrm>
            <a:off x="1023938" y="3536156"/>
            <a:ext cx="3726418" cy="693658"/>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"hello": ["Hello!", "Hi </a:t>
            </a:r>
            <a:r>
              <a:rPr lang="en-US" sz="1600" dirty="0">
                <a:solidFill>
                  <a:srgbClr val="000000"/>
                </a:solidFill>
                <a:latin typeface="Open Sans" pitchFamily="34" charset="0"/>
                <a:ea typeface="Open Sans" pitchFamily="34" charset="-122"/>
                <a:cs typeface="Open Sans" pitchFamily="34" charset="-120"/>
              </a:rPr>
              <a:t>👋</a:t>
            </a:r>
            <a:r>
              <a:rPr lang="en-US" sz="1600" dirty="0">
                <a:solidFill>
                  <a:srgbClr val="2B2E3C"/>
                </a:solidFill>
                <a:latin typeface="Open Sans" pitchFamily="34" charset="0"/>
                <a:ea typeface="Open Sans" pitchFamily="34" charset="-122"/>
                <a:cs typeface="Open Sans" pitchFamily="34" charset="-120"/>
              </a:rPr>
              <a:t>", "Hey!", "Hello there </a:t>
            </a:r>
            <a:r>
              <a:rPr lang="en-US" sz="1600" dirty="0">
                <a:solidFill>
                  <a:srgbClr val="000000"/>
                </a:solidFill>
                <a:latin typeface="Open Sans" pitchFamily="34" charset="0"/>
                <a:ea typeface="Open Sans" pitchFamily="34" charset="-122"/>
                <a:cs typeface="Open Sans" pitchFamily="34" charset="-120"/>
              </a:rPr>
              <a:t>😊</a:t>
            </a:r>
            <a:r>
              <a:rPr lang="en-US" sz="1600" dirty="0">
                <a:solidFill>
                  <a:srgbClr val="2B2E3C"/>
                </a:solidFill>
                <a:latin typeface="Open Sans" pitchFamily="34" charset="0"/>
                <a:ea typeface="Open Sans" pitchFamily="34" charset="-122"/>
                <a:cs typeface="Open Sans" pitchFamily="34" charset="-120"/>
              </a:rPr>
              <a:t>"]</a:t>
            </a:r>
            <a:endParaRPr lang="en-US" sz="1600" dirty="0"/>
          </a:p>
        </p:txBody>
      </p:sp>
      <p:sp>
        <p:nvSpPr>
          <p:cNvPr id="8" name="Text 6"/>
          <p:cNvSpPr/>
          <p:nvPr/>
        </p:nvSpPr>
        <p:spPr>
          <a:xfrm>
            <a:off x="1023938" y="4302323"/>
            <a:ext cx="3726418" cy="331589"/>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"hi": ["Hi!", "Hey!", "Hello!"]</a:t>
            </a:r>
            <a:endParaRPr lang="en-US" sz="1600" dirty="0"/>
          </a:p>
        </p:txBody>
      </p:sp>
      <p:sp>
        <p:nvSpPr>
          <p:cNvPr id="9" name="Text 7"/>
          <p:cNvSpPr/>
          <p:nvPr/>
        </p:nvSpPr>
        <p:spPr>
          <a:xfrm>
            <a:off x="1023938" y="4706422"/>
            <a:ext cx="3726418" cy="678418"/>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"good morning": ["Good morning </a:t>
            </a:r>
            <a:r>
              <a:rPr lang="en-US" sz="1600" dirty="0">
                <a:solidFill>
                  <a:srgbClr val="000000"/>
                </a:solidFill>
                <a:latin typeface="Open Sans" pitchFamily="34" charset="0"/>
                <a:ea typeface="Open Sans" pitchFamily="34" charset="-122"/>
                <a:cs typeface="Open Sans" pitchFamily="34" charset="-120"/>
              </a:rPr>
              <a:t>☀️</a:t>
            </a:r>
            <a:r>
              <a:rPr lang="en-US" sz="1600" dirty="0">
                <a:solidFill>
                  <a:srgbClr val="2B2E3C"/>
                </a:solidFill>
                <a:latin typeface="Open Sans" pitchFamily="34" charset="0"/>
                <a:ea typeface="Open Sans" pitchFamily="34" charset="-122"/>
                <a:cs typeface="Open Sans" pitchFamily="34" charset="-120"/>
              </a:rPr>
              <a:t>", "Morning! Have a nice day"]</a:t>
            </a:r>
            <a:endParaRPr lang="en-US" sz="1600" dirty="0"/>
          </a:p>
        </p:txBody>
      </p:sp>
      <p:sp>
        <p:nvSpPr>
          <p:cNvPr id="10" name="Text 8"/>
          <p:cNvSpPr/>
          <p:nvPr/>
        </p:nvSpPr>
        <p:spPr>
          <a:xfrm>
            <a:off x="1023938" y="5457349"/>
            <a:ext cx="3726418" cy="678418"/>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"good evening": ["Good evening </a:t>
            </a:r>
            <a:r>
              <a:rPr lang="en-US" sz="1600" dirty="0">
                <a:solidFill>
                  <a:srgbClr val="000000"/>
                </a:solidFill>
                <a:latin typeface="Open Sans" pitchFamily="34" charset="0"/>
                <a:ea typeface="Open Sans" pitchFamily="34" charset="-122"/>
                <a:cs typeface="Open Sans" pitchFamily="34" charset="-120"/>
              </a:rPr>
              <a:t>🌙</a:t>
            </a:r>
            <a:r>
              <a:rPr lang="en-US" sz="1600" dirty="0">
                <a:solidFill>
                  <a:srgbClr val="2B2E3C"/>
                </a:solidFill>
                <a:latin typeface="Open Sans" pitchFamily="34" charset="0"/>
                <a:ea typeface="Open Sans" pitchFamily="34" charset="-122"/>
                <a:cs typeface="Open Sans" pitchFamily="34" charset="-120"/>
              </a:rPr>
              <a:t>", "Hope your evening is great"]</a:t>
            </a:r>
            <a:endParaRPr lang="en-US" sz="1600" dirty="0"/>
          </a:p>
        </p:txBody>
      </p:sp>
      <p:sp>
        <p:nvSpPr>
          <p:cNvPr id="11" name="Text 9"/>
          <p:cNvSpPr/>
          <p:nvPr/>
        </p:nvSpPr>
        <p:spPr>
          <a:xfrm>
            <a:off x="1023938" y="6208276"/>
            <a:ext cx="3726418" cy="678418"/>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"good night": ["Good night </a:t>
            </a:r>
            <a:r>
              <a:rPr lang="en-US" sz="1600" dirty="0">
                <a:solidFill>
                  <a:srgbClr val="000000"/>
                </a:solidFill>
                <a:latin typeface="Open Sans" pitchFamily="34" charset="0"/>
                <a:ea typeface="Open Sans" pitchFamily="34" charset="-122"/>
                <a:cs typeface="Open Sans" pitchFamily="34" charset="-120"/>
              </a:rPr>
              <a:t>😴</a:t>
            </a:r>
            <a:r>
              <a:rPr lang="en-US" sz="1600" dirty="0">
                <a:solidFill>
                  <a:srgbClr val="2B2E3C"/>
                </a:solidFill>
                <a:latin typeface="Open Sans" pitchFamily="34" charset="0"/>
                <a:ea typeface="Open Sans" pitchFamily="34" charset="-122"/>
                <a:cs typeface="Open Sans" pitchFamily="34" charset="-120"/>
              </a:rPr>
              <a:t>", "Sweet dreams"]</a:t>
            </a:r>
            <a:endParaRPr lang="en-US" sz="1600" dirty="0"/>
          </a:p>
        </p:txBody>
      </p:sp>
      <p:sp>
        <p:nvSpPr>
          <p:cNvPr id="12" name="Shape 10"/>
          <p:cNvSpPr/>
          <p:nvPr/>
        </p:nvSpPr>
        <p:spPr>
          <a:xfrm>
            <a:off x="5187553" y="2857976"/>
            <a:ext cx="4255175" cy="4472107"/>
          </a:xfrm>
          <a:prstGeom prst="roundRect">
            <a:avLst>
              <a:gd name="adj" fmla="val 2579"/>
            </a:avLst>
          </a:prstGeom>
          <a:solidFill>
            <a:srgbClr val="FFF8F0"/>
          </a:solidFill>
          <a:ln w="22860">
            <a:solidFill>
              <a:srgbClr val="E2C8B5"/>
            </a:solidFill>
            <a:prstDash val="solid"/>
          </a:ln>
        </p:spPr>
        <p:txBody>
          <a:bodyPr/>
          <a:lstStyle/>
          <a:p>
            <a:endParaRPr lang="en-US"/>
          </a:p>
        </p:txBody>
      </p:sp>
      <p:sp>
        <p:nvSpPr>
          <p:cNvPr id="13" name="Shape 11"/>
          <p:cNvSpPr/>
          <p:nvPr/>
        </p:nvSpPr>
        <p:spPr>
          <a:xfrm>
            <a:off x="5164693" y="2857976"/>
            <a:ext cx="91440" cy="4472107"/>
          </a:xfrm>
          <a:prstGeom prst="roundRect">
            <a:avLst>
              <a:gd name="adj" fmla="val 95195"/>
            </a:avLst>
          </a:prstGeom>
          <a:solidFill>
            <a:srgbClr val="D2600F"/>
          </a:solidFill>
          <a:ln/>
        </p:spPr>
        <p:txBody>
          <a:bodyPr/>
          <a:lstStyle/>
          <a:p>
            <a:endParaRPr lang="en-US"/>
          </a:p>
        </p:txBody>
      </p:sp>
      <p:sp>
        <p:nvSpPr>
          <p:cNvPr id="14" name="Text 12"/>
          <p:cNvSpPr/>
          <p:nvPr/>
        </p:nvSpPr>
        <p:spPr>
          <a:xfrm>
            <a:off x="5486162" y="3088005"/>
            <a:ext cx="2590562" cy="323850"/>
          </a:xfrm>
          <a:prstGeom prst="rect">
            <a:avLst/>
          </a:prstGeom>
          <a:noFill/>
          <a:ln/>
        </p:spPr>
        <p:txBody>
          <a:bodyPr wrap="none" lIns="0" tIns="0" rIns="0" bIns="0" rtlCol="0" anchor="t"/>
          <a:lstStyle/>
          <a:p>
            <a:pPr marL="0" indent="0" algn="l">
              <a:lnSpc>
                <a:spcPts val="2500"/>
              </a:lnSpc>
              <a:buNone/>
            </a:pPr>
            <a:r>
              <a:rPr lang="en-US" sz="2000" dirty="0">
                <a:solidFill>
                  <a:srgbClr val="2B2E3C"/>
                </a:solidFill>
                <a:latin typeface="Bitter Medium" pitchFamily="34" charset="0"/>
                <a:ea typeface="Bitter Medium" pitchFamily="34" charset="-122"/>
                <a:cs typeface="Bitter Medium" pitchFamily="34" charset="-120"/>
              </a:rPr>
              <a:t>Personal</a:t>
            </a:r>
            <a:endParaRPr lang="en-US" sz="2000" dirty="0"/>
          </a:p>
        </p:txBody>
      </p:sp>
      <p:sp>
        <p:nvSpPr>
          <p:cNvPr id="15" name="Text 13"/>
          <p:cNvSpPr/>
          <p:nvPr/>
        </p:nvSpPr>
        <p:spPr>
          <a:xfrm>
            <a:off x="5486162" y="3536156"/>
            <a:ext cx="3726537" cy="678418"/>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"how are you": ["I'm fine </a:t>
            </a:r>
            <a:r>
              <a:rPr lang="en-US" sz="1600" dirty="0">
                <a:solidFill>
                  <a:srgbClr val="000000"/>
                </a:solidFill>
                <a:latin typeface="Open Sans" pitchFamily="34" charset="0"/>
                <a:ea typeface="Open Sans" pitchFamily="34" charset="-122"/>
                <a:cs typeface="Open Sans" pitchFamily="34" charset="-120"/>
              </a:rPr>
              <a:t>😊</a:t>
            </a:r>
            <a:r>
              <a:rPr lang="en-US" sz="1600" dirty="0">
                <a:solidFill>
                  <a:srgbClr val="2B2E3C"/>
                </a:solidFill>
                <a:latin typeface="Open Sans" pitchFamily="34" charset="0"/>
                <a:ea typeface="Open Sans" pitchFamily="34" charset="-122"/>
                <a:cs typeface="Open Sans" pitchFamily="34" charset="-120"/>
              </a:rPr>
              <a:t>", "Doing great!", "All good, thanks"]</a:t>
            </a:r>
            <a:endParaRPr lang="en-US" sz="1600" dirty="0"/>
          </a:p>
        </p:txBody>
      </p:sp>
      <p:sp>
        <p:nvSpPr>
          <p:cNvPr id="16" name="Text 14"/>
          <p:cNvSpPr/>
          <p:nvPr/>
        </p:nvSpPr>
        <p:spPr>
          <a:xfrm>
            <a:off x="5486162" y="4287083"/>
            <a:ext cx="3726537" cy="678418"/>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"your name": ["I'm a chatbot </a:t>
            </a:r>
            <a:r>
              <a:rPr lang="en-US" sz="1600" dirty="0">
                <a:solidFill>
                  <a:srgbClr val="000000"/>
                </a:solidFill>
                <a:latin typeface="Open Sans" pitchFamily="34" charset="0"/>
                <a:ea typeface="Open Sans" pitchFamily="34" charset="-122"/>
                <a:cs typeface="Open Sans" pitchFamily="34" charset="-120"/>
              </a:rPr>
              <a:t>🤖</a:t>
            </a:r>
            <a:r>
              <a:rPr lang="en-US" sz="1600" dirty="0">
                <a:solidFill>
                  <a:srgbClr val="2B2E3C"/>
                </a:solidFill>
                <a:latin typeface="Open Sans" pitchFamily="34" charset="0"/>
                <a:ea typeface="Open Sans" pitchFamily="34" charset="-122"/>
                <a:cs typeface="Open Sans" pitchFamily="34" charset="-120"/>
              </a:rPr>
              <a:t>", "You can call me AI Bot"]</a:t>
            </a:r>
            <a:endParaRPr lang="en-US" sz="1600" dirty="0"/>
          </a:p>
        </p:txBody>
      </p:sp>
      <p:sp>
        <p:nvSpPr>
          <p:cNvPr id="17" name="Text 15"/>
          <p:cNvSpPr/>
          <p:nvPr/>
        </p:nvSpPr>
        <p:spPr>
          <a:xfrm>
            <a:off x="5486162" y="5038011"/>
            <a:ext cx="3726537" cy="663178"/>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"who are you": ["I'm a rule-based chatbot", "I'm here to help you"]</a:t>
            </a:r>
            <a:endParaRPr lang="en-US" sz="1600" dirty="0"/>
          </a:p>
        </p:txBody>
      </p:sp>
      <p:sp>
        <p:nvSpPr>
          <p:cNvPr id="18" name="Text 16"/>
          <p:cNvSpPr/>
          <p:nvPr/>
        </p:nvSpPr>
        <p:spPr>
          <a:xfrm>
            <a:off x="5486162" y="5773698"/>
            <a:ext cx="3726537" cy="1326356"/>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"what can you do": ["I can chat with you", "I can answer questions", "I can help with programming and study"]</a:t>
            </a:r>
            <a:endParaRPr lang="en-US" sz="1600" dirty="0"/>
          </a:p>
        </p:txBody>
      </p:sp>
      <p:sp>
        <p:nvSpPr>
          <p:cNvPr id="19" name="Shape 17"/>
          <p:cNvSpPr/>
          <p:nvPr/>
        </p:nvSpPr>
        <p:spPr>
          <a:xfrm>
            <a:off x="9649897" y="2857976"/>
            <a:ext cx="4255056" cy="4472107"/>
          </a:xfrm>
          <a:prstGeom prst="roundRect">
            <a:avLst>
              <a:gd name="adj" fmla="val 2579"/>
            </a:avLst>
          </a:prstGeom>
          <a:solidFill>
            <a:srgbClr val="FFF8F0"/>
          </a:solidFill>
          <a:ln w="22860">
            <a:solidFill>
              <a:srgbClr val="E2C8B5"/>
            </a:solidFill>
            <a:prstDash val="solid"/>
          </a:ln>
        </p:spPr>
        <p:txBody>
          <a:bodyPr/>
          <a:lstStyle/>
          <a:p>
            <a:endParaRPr lang="en-US"/>
          </a:p>
        </p:txBody>
      </p:sp>
      <p:sp>
        <p:nvSpPr>
          <p:cNvPr id="20" name="Shape 18"/>
          <p:cNvSpPr/>
          <p:nvPr/>
        </p:nvSpPr>
        <p:spPr>
          <a:xfrm>
            <a:off x="9627037" y="2857976"/>
            <a:ext cx="91440" cy="4472107"/>
          </a:xfrm>
          <a:prstGeom prst="roundRect">
            <a:avLst>
              <a:gd name="adj" fmla="val 95195"/>
            </a:avLst>
          </a:prstGeom>
          <a:solidFill>
            <a:srgbClr val="D2600F"/>
          </a:solidFill>
          <a:ln/>
        </p:spPr>
        <p:txBody>
          <a:bodyPr/>
          <a:lstStyle/>
          <a:p>
            <a:endParaRPr lang="en-US"/>
          </a:p>
        </p:txBody>
      </p:sp>
      <p:sp>
        <p:nvSpPr>
          <p:cNvPr id="21" name="Text 19"/>
          <p:cNvSpPr/>
          <p:nvPr/>
        </p:nvSpPr>
        <p:spPr>
          <a:xfrm>
            <a:off x="9948505" y="3088005"/>
            <a:ext cx="2590562" cy="323850"/>
          </a:xfrm>
          <a:prstGeom prst="rect">
            <a:avLst/>
          </a:prstGeom>
          <a:noFill/>
          <a:ln/>
        </p:spPr>
        <p:txBody>
          <a:bodyPr wrap="none" lIns="0" tIns="0" rIns="0" bIns="0" rtlCol="0" anchor="t"/>
          <a:lstStyle/>
          <a:p>
            <a:pPr marL="0" indent="0" algn="l">
              <a:lnSpc>
                <a:spcPts val="2500"/>
              </a:lnSpc>
              <a:buNone/>
            </a:pPr>
            <a:r>
              <a:rPr lang="en-US" sz="2000" dirty="0">
                <a:solidFill>
                  <a:srgbClr val="2B2E3C"/>
                </a:solidFill>
                <a:latin typeface="Bitter Medium" pitchFamily="34" charset="0"/>
                <a:ea typeface="Bitter Medium" pitchFamily="34" charset="-122"/>
                <a:cs typeface="Bitter Medium" pitchFamily="34" charset="-120"/>
              </a:rPr>
              <a:t>Feelings</a:t>
            </a:r>
            <a:endParaRPr lang="en-US" sz="2000" dirty="0"/>
          </a:p>
        </p:txBody>
      </p:sp>
      <p:sp>
        <p:nvSpPr>
          <p:cNvPr id="22" name="Text 20"/>
          <p:cNvSpPr/>
          <p:nvPr/>
        </p:nvSpPr>
        <p:spPr>
          <a:xfrm>
            <a:off x="9948505" y="3536156"/>
            <a:ext cx="3726418" cy="678418"/>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"i am sad": ["I'm sorry to hear that </a:t>
            </a:r>
            <a:r>
              <a:rPr lang="en-US" sz="1600" dirty="0">
                <a:solidFill>
                  <a:srgbClr val="000000"/>
                </a:solidFill>
                <a:latin typeface="Open Sans" pitchFamily="34" charset="0"/>
                <a:ea typeface="Open Sans" pitchFamily="34" charset="-122"/>
                <a:cs typeface="Open Sans" pitchFamily="34" charset="-120"/>
              </a:rPr>
              <a:t>😔</a:t>
            </a:r>
            <a:r>
              <a:rPr lang="en-US" sz="1600" dirty="0">
                <a:solidFill>
                  <a:srgbClr val="2B2E3C"/>
                </a:solidFill>
                <a:latin typeface="Open Sans" pitchFamily="34" charset="0"/>
                <a:ea typeface="Open Sans" pitchFamily="34" charset="-122"/>
                <a:cs typeface="Open Sans" pitchFamily="34" charset="-120"/>
              </a:rPr>
              <a:t>", "Everything will be okay </a:t>
            </a:r>
            <a:r>
              <a:rPr lang="en-US" sz="1600" dirty="0">
                <a:solidFill>
                  <a:srgbClr val="000000"/>
                </a:solidFill>
                <a:latin typeface="Open Sans" pitchFamily="34" charset="0"/>
                <a:ea typeface="Open Sans" pitchFamily="34" charset="-122"/>
                <a:cs typeface="Open Sans" pitchFamily="34" charset="-120"/>
              </a:rPr>
              <a:t>❤️</a:t>
            </a:r>
            <a:r>
              <a:rPr lang="en-US" sz="1600" dirty="0">
                <a:solidFill>
                  <a:srgbClr val="2B2E3C"/>
                </a:solidFill>
                <a:latin typeface="Open Sans" pitchFamily="34" charset="0"/>
                <a:ea typeface="Open Sans" pitchFamily="34" charset="-122"/>
                <a:cs typeface="Open Sans" pitchFamily="34" charset="-120"/>
              </a:rPr>
              <a:t>"]</a:t>
            </a:r>
            <a:endParaRPr lang="en-US" sz="1600" dirty="0"/>
          </a:p>
        </p:txBody>
      </p:sp>
      <p:sp>
        <p:nvSpPr>
          <p:cNvPr id="23" name="Text 21"/>
          <p:cNvSpPr/>
          <p:nvPr/>
        </p:nvSpPr>
        <p:spPr>
          <a:xfrm>
            <a:off x="9948505" y="4287083"/>
            <a:ext cx="3726418" cy="678418"/>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"i am happy": ["That's great </a:t>
            </a:r>
            <a:r>
              <a:rPr lang="en-US" sz="1600" dirty="0">
                <a:solidFill>
                  <a:srgbClr val="000000"/>
                </a:solidFill>
                <a:latin typeface="Open Sans" pitchFamily="34" charset="0"/>
                <a:ea typeface="Open Sans" pitchFamily="34" charset="-122"/>
                <a:cs typeface="Open Sans" pitchFamily="34" charset="-120"/>
              </a:rPr>
              <a:t>😄</a:t>
            </a:r>
            <a:r>
              <a:rPr lang="en-US" sz="1600" dirty="0">
                <a:solidFill>
                  <a:srgbClr val="2B2E3C"/>
                </a:solidFill>
                <a:latin typeface="Open Sans" pitchFamily="34" charset="0"/>
                <a:ea typeface="Open Sans" pitchFamily="34" charset="-122"/>
                <a:cs typeface="Open Sans" pitchFamily="34" charset="-120"/>
              </a:rPr>
              <a:t>", "I'm happy for you!"]</a:t>
            </a:r>
            <a:endParaRPr lang="en-US" sz="1600" dirty="0"/>
          </a:p>
        </p:txBody>
      </p:sp>
      <p:sp>
        <p:nvSpPr>
          <p:cNvPr id="24" name="Text 22"/>
          <p:cNvSpPr/>
          <p:nvPr/>
        </p:nvSpPr>
        <p:spPr>
          <a:xfrm>
            <a:off x="9948505" y="5038011"/>
            <a:ext cx="3726418" cy="678418"/>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"i am tired": ["Take some rest </a:t>
            </a:r>
            <a:r>
              <a:rPr lang="en-US" sz="1600" dirty="0">
                <a:solidFill>
                  <a:srgbClr val="000000"/>
                </a:solidFill>
                <a:latin typeface="Open Sans" pitchFamily="34" charset="0"/>
                <a:ea typeface="Open Sans" pitchFamily="34" charset="-122"/>
                <a:cs typeface="Open Sans" pitchFamily="34" charset="-120"/>
              </a:rPr>
              <a:t>😴</a:t>
            </a:r>
            <a:r>
              <a:rPr lang="en-US" sz="1600" dirty="0">
                <a:solidFill>
                  <a:srgbClr val="2B2E3C"/>
                </a:solidFill>
                <a:latin typeface="Open Sans" pitchFamily="34" charset="0"/>
                <a:ea typeface="Open Sans" pitchFamily="34" charset="-122"/>
                <a:cs typeface="Open Sans" pitchFamily="34" charset="-120"/>
              </a:rPr>
              <a:t>", "You deserve a break"]</a:t>
            </a:r>
            <a:endParaRPr lang="en-US" sz="1600" dirty="0"/>
          </a:p>
        </p:txBody>
      </p:sp>
      <p:sp>
        <p:nvSpPr>
          <p:cNvPr id="25" name="Text 23"/>
          <p:cNvSpPr/>
          <p:nvPr/>
        </p:nvSpPr>
        <p:spPr>
          <a:xfrm>
            <a:off x="9948505" y="5788938"/>
            <a:ext cx="3726418" cy="678418"/>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2B2E3C"/>
                </a:solidFill>
                <a:latin typeface="Open Sans" pitchFamily="34" charset="0"/>
                <a:ea typeface="Open Sans" pitchFamily="34" charset="-122"/>
                <a:cs typeface="Open Sans" pitchFamily="34" charset="-120"/>
              </a:rPr>
              <a:t>"i am bored": ["Let's talk </a:t>
            </a:r>
            <a:r>
              <a:rPr lang="en-US" sz="1600" dirty="0">
                <a:solidFill>
                  <a:srgbClr val="000000"/>
                </a:solidFill>
                <a:latin typeface="Open Sans" pitchFamily="34" charset="0"/>
                <a:ea typeface="Open Sans" pitchFamily="34" charset="-122"/>
                <a:cs typeface="Open Sans" pitchFamily="34" charset="-120"/>
              </a:rPr>
              <a:t>😄</a:t>
            </a:r>
            <a:r>
              <a:rPr lang="en-US" sz="1600" dirty="0">
                <a:solidFill>
                  <a:srgbClr val="2B2E3C"/>
                </a:solidFill>
                <a:latin typeface="Open Sans" pitchFamily="34" charset="0"/>
                <a:ea typeface="Open Sans" pitchFamily="34" charset="-122"/>
                <a:cs typeface="Open Sans" pitchFamily="34" charset="-120"/>
              </a:rPr>
              <a:t>", "Try learning something new"]</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7357" y="766763"/>
            <a:ext cx="11193185" cy="676275"/>
          </a:xfrm>
          <a:prstGeom prst="rect">
            <a:avLst/>
          </a:prstGeom>
          <a:noFill/>
          <a:ln/>
        </p:spPr>
        <p:txBody>
          <a:bodyPr wrap="none" lIns="0" tIns="0" rIns="0" bIns="0" rtlCol="0" anchor="t"/>
          <a:lstStyle/>
          <a:p>
            <a:pPr marL="0" indent="0" algn="l">
              <a:lnSpc>
                <a:spcPts val="5300"/>
              </a:lnSpc>
              <a:buNone/>
            </a:pPr>
            <a:r>
              <a:rPr lang="en-US" sz="4250" dirty="0">
                <a:solidFill>
                  <a:srgbClr val="2C3F42"/>
                </a:solidFill>
                <a:latin typeface="Bitter Medium" pitchFamily="34" charset="0"/>
                <a:ea typeface="Bitter Medium" pitchFamily="34" charset="-122"/>
                <a:cs typeface="Bitter Medium" pitchFamily="34" charset="-120"/>
              </a:rPr>
              <a:t>Chatbot Responses: Study and Programming</a:t>
            </a:r>
            <a:endParaRPr lang="en-US" sz="4250" dirty="0"/>
          </a:p>
        </p:txBody>
      </p:sp>
      <p:sp>
        <p:nvSpPr>
          <p:cNvPr id="3" name="Text 1"/>
          <p:cNvSpPr/>
          <p:nvPr/>
        </p:nvSpPr>
        <p:spPr>
          <a:xfrm>
            <a:off x="757357" y="1875830"/>
            <a:ext cx="13115687" cy="346234"/>
          </a:xfrm>
          <a:prstGeom prst="rect">
            <a:avLst/>
          </a:prstGeom>
          <a:noFill/>
          <a:ln/>
        </p:spPr>
        <p:txBody>
          <a:bodyPr wrap="none" lIns="0" tIns="0" rIns="0" bIns="0" rtlCol="0" anchor="t"/>
          <a:lstStyle/>
          <a:p>
            <a:pPr marL="0" indent="0" algn="l">
              <a:lnSpc>
                <a:spcPts val="2700"/>
              </a:lnSpc>
              <a:buNone/>
            </a:pPr>
            <a:r>
              <a:rPr lang="en-US" sz="1700" dirty="0">
                <a:solidFill>
                  <a:srgbClr val="2B2E3C"/>
                </a:solidFill>
                <a:latin typeface="Open Sans" pitchFamily="34" charset="0"/>
                <a:ea typeface="Open Sans" pitchFamily="34" charset="-122"/>
                <a:cs typeface="Open Sans" pitchFamily="34" charset="-120"/>
              </a:rPr>
              <a:t>The chatbot also provides responses related to academic and technical topics, offering encouragement and information.</a:t>
            </a:r>
            <a:endParaRPr lang="en-US" sz="1700" dirty="0"/>
          </a:p>
        </p:txBody>
      </p:sp>
      <p:sp>
        <p:nvSpPr>
          <p:cNvPr id="4" name="Shape 2"/>
          <p:cNvSpPr/>
          <p:nvPr/>
        </p:nvSpPr>
        <p:spPr>
          <a:xfrm>
            <a:off x="757357" y="2465427"/>
            <a:ext cx="4227671" cy="4997291"/>
          </a:xfrm>
          <a:prstGeom prst="roundRect">
            <a:avLst>
              <a:gd name="adj" fmla="val 3461"/>
            </a:avLst>
          </a:prstGeom>
          <a:solidFill>
            <a:srgbClr val="FFF8F0"/>
          </a:solidFill>
          <a:ln w="30480">
            <a:solidFill>
              <a:srgbClr val="E2C8B5"/>
            </a:solidFill>
            <a:prstDash val="solid"/>
          </a:ln>
        </p:spPr>
        <p:txBody>
          <a:bodyPr/>
          <a:lstStyle/>
          <a:p>
            <a:endParaRPr lang="en-US"/>
          </a:p>
        </p:txBody>
      </p:sp>
      <p:sp>
        <p:nvSpPr>
          <p:cNvPr id="5" name="Shape 3"/>
          <p:cNvSpPr/>
          <p:nvPr/>
        </p:nvSpPr>
        <p:spPr>
          <a:xfrm>
            <a:off x="726877" y="2465427"/>
            <a:ext cx="121920" cy="4997291"/>
          </a:xfrm>
          <a:prstGeom prst="roundRect">
            <a:avLst>
              <a:gd name="adj" fmla="val 74550"/>
            </a:avLst>
          </a:prstGeom>
          <a:solidFill>
            <a:srgbClr val="D2600F"/>
          </a:solidFill>
          <a:ln/>
        </p:spPr>
        <p:txBody>
          <a:bodyPr/>
          <a:lstStyle/>
          <a:p>
            <a:endParaRPr lang="en-US"/>
          </a:p>
        </p:txBody>
      </p:sp>
      <p:sp>
        <p:nvSpPr>
          <p:cNvPr id="6" name="Text 4"/>
          <p:cNvSpPr/>
          <p:nvPr/>
        </p:nvSpPr>
        <p:spPr>
          <a:xfrm>
            <a:off x="1095613" y="2712244"/>
            <a:ext cx="2705100" cy="338138"/>
          </a:xfrm>
          <a:prstGeom prst="rect">
            <a:avLst/>
          </a:prstGeom>
          <a:noFill/>
          <a:ln/>
        </p:spPr>
        <p:txBody>
          <a:bodyPr wrap="none" lIns="0" tIns="0" rIns="0" bIns="0" rtlCol="0" anchor="t"/>
          <a:lstStyle/>
          <a:p>
            <a:pPr marL="0" indent="0" algn="l">
              <a:lnSpc>
                <a:spcPts val="2650"/>
              </a:lnSpc>
              <a:buNone/>
            </a:pPr>
            <a:r>
              <a:rPr lang="en-US" sz="2100" dirty="0">
                <a:solidFill>
                  <a:srgbClr val="2B2E3C"/>
                </a:solidFill>
                <a:latin typeface="Bitter Medium" pitchFamily="34" charset="0"/>
                <a:ea typeface="Bitter Medium" pitchFamily="34" charset="-122"/>
                <a:cs typeface="Bitter Medium" pitchFamily="34" charset="-120"/>
              </a:rPr>
              <a:t>Study</a:t>
            </a:r>
            <a:endParaRPr lang="en-US" sz="2100" dirty="0"/>
          </a:p>
        </p:txBody>
      </p:sp>
      <p:sp>
        <p:nvSpPr>
          <p:cNvPr id="7" name="Text 5"/>
          <p:cNvSpPr/>
          <p:nvPr/>
        </p:nvSpPr>
        <p:spPr>
          <a:xfrm>
            <a:off x="1095613" y="3180159"/>
            <a:ext cx="3642598" cy="1038701"/>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B2E3C"/>
                </a:solidFill>
                <a:latin typeface="Open Sans" pitchFamily="34" charset="0"/>
                <a:ea typeface="Open Sans" pitchFamily="34" charset="-122"/>
                <a:cs typeface="Open Sans" pitchFamily="34" charset="-120"/>
              </a:rPr>
              <a:t>"study": ["Studying helps your future", "Study a little every day"]</a:t>
            </a:r>
            <a:endParaRPr lang="en-US" sz="1700" dirty="0"/>
          </a:p>
        </p:txBody>
      </p:sp>
      <p:sp>
        <p:nvSpPr>
          <p:cNvPr id="8" name="Text 6"/>
          <p:cNvSpPr/>
          <p:nvPr/>
        </p:nvSpPr>
        <p:spPr>
          <a:xfrm>
            <a:off x="1095613" y="4294584"/>
            <a:ext cx="3642598" cy="1046321"/>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B2E3C"/>
                </a:solidFill>
                <a:latin typeface="Open Sans" pitchFamily="34" charset="0"/>
                <a:ea typeface="Open Sans" pitchFamily="34" charset="-122"/>
                <a:cs typeface="Open Sans" pitchFamily="34" charset="-120"/>
              </a:rPr>
              <a:t>"exam": ["Good luck in your exam </a:t>
            </a:r>
            <a:r>
              <a:rPr lang="en-US" sz="1700" dirty="0">
                <a:solidFill>
                  <a:srgbClr val="000000"/>
                </a:solidFill>
                <a:latin typeface="Open Sans" pitchFamily="34" charset="0"/>
                <a:ea typeface="Open Sans" pitchFamily="34" charset="-122"/>
                <a:cs typeface="Open Sans" pitchFamily="34" charset="-120"/>
              </a:rPr>
              <a:t>🍀</a:t>
            </a:r>
            <a:r>
              <a:rPr lang="en-US" sz="1700" dirty="0">
                <a:solidFill>
                  <a:srgbClr val="2B2E3C"/>
                </a:solidFill>
                <a:latin typeface="Open Sans" pitchFamily="34" charset="0"/>
                <a:ea typeface="Open Sans" pitchFamily="34" charset="-122"/>
                <a:cs typeface="Open Sans" pitchFamily="34" charset="-120"/>
              </a:rPr>
              <a:t>", "Stay calm and confident"]</a:t>
            </a:r>
            <a:endParaRPr lang="en-US" sz="1700" dirty="0"/>
          </a:p>
        </p:txBody>
      </p:sp>
      <p:sp>
        <p:nvSpPr>
          <p:cNvPr id="9" name="Text 7"/>
          <p:cNvSpPr/>
          <p:nvPr/>
        </p:nvSpPr>
        <p:spPr>
          <a:xfrm>
            <a:off x="1095613" y="5416629"/>
            <a:ext cx="3642598" cy="692467"/>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B2E3C"/>
                </a:solidFill>
                <a:latin typeface="Open Sans" pitchFamily="34" charset="0"/>
                <a:ea typeface="Open Sans" pitchFamily="34" charset="-122"/>
                <a:cs typeface="Open Sans" pitchFamily="34" charset="-120"/>
              </a:rPr>
              <a:t>"project": ["Projects build real skills", "Work step by step"]</a:t>
            </a:r>
            <a:endParaRPr lang="en-US" sz="1700" dirty="0"/>
          </a:p>
        </p:txBody>
      </p:sp>
      <p:sp>
        <p:nvSpPr>
          <p:cNvPr id="10" name="Shape 8"/>
          <p:cNvSpPr/>
          <p:nvPr/>
        </p:nvSpPr>
        <p:spPr>
          <a:xfrm>
            <a:off x="5201364" y="2465427"/>
            <a:ext cx="4227671" cy="4997291"/>
          </a:xfrm>
          <a:prstGeom prst="roundRect">
            <a:avLst>
              <a:gd name="adj" fmla="val 3461"/>
            </a:avLst>
          </a:prstGeom>
          <a:solidFill>
            <a:srgbClr val="FFF8F0"/>
          </a:solidFill>
          <a:ln w="30480">
            <a:solidFill>
              <a:srgbClr val="E2C8B5"/>
            </a:solidFill>
            <a:prstDash val="solid"/>
          </a:ln>
        </p:spPr>
        <p:txBody>
          <a:bodyPr/>
          <a:lstStyle/>
          <a:p>
            <a:endParaRPr lang="en-US"/>
          </a:p>
        </p:txBody>
      </p:sp>
      <p:sp>
        <p:nvSpPr>
          <p:cNvPr id="11" name="Shape 9"/>
          <p:cNvSpPr/>
          <p:nvPr/>
        </p:nvSpPr>
        <p:spPr>
          <a:xfrm>
            <a:off x="5170884" y="2465427"/>
            <a:ext cx="121920" cy="4997291"/>
          </a:xfrm>
          <a:prstGeom prst="roundRect">
            <a:avLst>
              <a:gd name="adj" fmla="val 74550"/>
            </a:avLst>
          </a:prstGeom>
          <a:solidFill>
            <a:srgbClr val="D2600F"/>
          </a:solidFill>
          <a:ln/>
        </p:spPr>
        <p:txBody>
          <a:bodyPr/>
          <a:lstStyle/>
          <a:p>
            <a:endParaRPr lang="en-US"/>
          </a:p>
        </p:txBody>
      </p:sp>
      <p:sp>
        <p:nvSpPr>
          <p:cNvPr id="12" name="Text 10"/>
          <p:cNvSpPr/>
          <p:nvPr/>
        </p:nvSpPr>
        <p:spPr>
          <a:xfrm>
            <a:off x="5539621" y="2712244"/>
            <a:ext cx="2705100" cy="338138"/>
          </a:xfrm>
          <a:prstGeom prst="rect">
            <a:avLst/>
          </a:prstGeom>
          <a:noFill/>
          <a:ln/>
        </p:spPr>
        <p:txBody>
          <a:bodyPr wrap="none" lIns="0" tIns="0" rIns="0" bIns="0" rtlCol="0" anchor="t"/>
          <a:lstStyle/>
          <a:p>
            <a:pPr marL="0" indent="0" algn="l">
              <a:lnSpc>
                <a:spcPts val="2650"/>
              </a:lnSpc>
              <a:buNone/>
            </a:pPr>
            <a:r>
              <a:rPr lang="en-US" sz="2100" dirty="0">
                <a:solidFill>
                  <a:srgbClr val="2B2E3C"/>
                </a:solidFill>
                <a:latin typeface="Bitter Medium" pitchFamily="34" charset="0"/>
                <a:ea typeface="Bitter Medium" pitchFamily="34" charset="-122"/>
                <a:cs typeface="Bitter Medium" pitchFamily="34" charset="-120"/>
              </a:rPr>
              <a:t>Programming</a:t>
            </a:r>
            <a:endParaRPr lang="en-US" sz="2100" dirty="0"/>
          </a:p>
        </p:txBody>
      </p:sp>
      <p:sp>
        <p:nvSpPr>
          <p:cNvPr id="13" name="Text 11"/>
          <p:cNvSpPr/>
          <p:nvPr/>
        </p:nvSpPr>
        <p:spPr>
          <a:xfrm>
            <a:off x="5539621" y="3180159"/>
            <a:ext cx="3642598" cy="1038701"/>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B2E3C"/>
                </a:solidFill>
                <a:latin typeface="Open Sans" pitchFamily="34" charset="0"/>
                <a:ea typeface="Open Sans" pitchFamily="34" charset="-122"/>
                <a:cs typeface="Open Sans" pitchFamily="34" charset="-120"/>
              </a:rPr>
              <a:t>"programming": ["Programming solves problems", "Programming needs logic"]</a:t>
            </a:r>
            <a:endParaRPr lang="en-US" sz="1700" dirty="0"/>
          </a:p>
        </p:txBody>
      </p:sp>
      <p:sp>
        <p:nvSpPr>
          <p:cNvPr id="14" name="Text 12"/>
          <p:cNvSpPr/>
          <p:nvPr/>
        </p:nvSpPr>
        <p:spPr>
          <a:xfrm>
            <a:off x="5539621" y="4294584"/>
            <a:ext cx="3642598" cy="1038701"/>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B2E3C"/>
                </a:solidFill>
                <a:latin typeface="Open Sans" pitchFamily="34" charset="0"/>
                <a:ea typeface="Open Sans" pitchFamily="34" charset="-122"/>
                <a:cs typeface="Open Sans" pitchFamily="34" charset="-120"/>
              </a:rPr>
              <a:t>"python": ["Python is easy and powerful", "Python is great for AI"]</a:t>
            </a:r>
            <a:endParaRPr lang="en-US" sz="1700" dirty="0"/>
          </a:p>
        </p:txBody>
      </p:sp>
      <p:sp>
        <p:nvSpPr>
          <p:cNvPr id="15" name="Text 13"/>
          <p:cNvSpPr/>
          <p:nvPr/>
        </p:nvSpPr>
        <p:spPr>
          <a:xfrm>
            <a:off x="5539621" y="5409009"/>
            <a:ext cx="3642598" cy="1038701"/>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B2E3C"/>
                </a:solidFill>
                <a:latin typeface="Open Sans" pitchFamily="34" charset="0"/>
                <a:ea typeface="Open Sans" pitchFamily="34" charset="-122"/>
                <a:cs typeface="Open Sans" pitchFamily="34" charset="-120"/>
              </a:rPr>
              <a:t>"c++": ["C++ is fast and powerful", "C++ is used in systems"]</a:t>
            </a:r>
            <a:endParaRPr lang="en-US" sz="1700" dirty="0"/>
          </a:p>
        </p:txBody>
      </p:sp>
      <p:sp>
        <p:nvSpPr>
          <p:cNvPr id="16" name="Text 14"/>
          <p:cNvSpPr/>
          <p:nvPr/>
        </p:nvSpPr>
        <p:spPr>
          <a:xfrm>
            <a:off x="5539621" y="6523434"/>
            <a:ext cx="3642598" cy="692467"/>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B2E3C"/>
                </a:solidFill>
                <a:latin typeface="Open Sans" pitchFamily="34" charset="0"/>
                <a:ea typeface="Open Sans" pitchFamily="34" charset="-122"/>
                <a:cs typeface="Open Sans" pitchFamily="34" charset="-120"/>
              </a:rPr>
              <a:t>"java": ["Java is platform independent"]</a:t>
            </a:r>
            <a:endParaRPr lang="en-US" sz="1700" dirty="0"/>
          </a:p>
        </p:txBody>
      </p:sp>
      <p:sp>
        <p:nvSpPr>
          <p:cNvPr id="17" name="Shape 15"/>
          <p:cNvSpPr/>
          <p:nvPr/>
        </p:nvSpPr>
        <p:spPr>
          <a:xfrm>
            <a:off x="9645372" y="2465427"/>
            <a:ext cx="4227671" cy="4997291"/>
          </a:xfrm>
          <a:prstGeom prst="roundRect">
            <a:avLst>
              <a:gd name="adj" fmla="val 3461"/>
            </a:avLst>
          </a:prstGeom>
          <a:solidFill>
            <a:srgbClr val="FFF8F0"/>
          </a:solidFill>
          <a:ln w="30480">
            <a:solidFill>
              <a:srgbClr val="E2C8B5"/>
            </a:solidFill>
            <a:prstDash val="solid"/>
          </a:ln>
        </p:spPr>
        <p:txBody>
          <a:bodyPr/>
          <a:lstStyle/>
          <a:p>
            <a:endParaRPr lang="en-US"/>
          </a:p>
        </p:txBody>
      </p:sp>
      <p:sp>
        <p:nvSpPr>
          <p:cNvPr id="18" name="Shape 16"/>
          <p:cNvSpPr/>
          <p:nvPr/>
        </p:nvSpPr>
        <p:spPr>
          <a:xfrm>
            <a:off x="9614892" y="2465427"/>
            <a:ext cx="121920" cy="4997291"/>
          </a:xfrm>
          <a:prstGeom prst="roundRect">
            <a:avLst>
              <a:gd name="adj" fmla="val 74550"/>
            </a:avLst>
          </a:prstGeom>
          <a:solidFill>
            <a:srgbClr val="D2600F"/>
          </a:solidFill>
          <a:ln/>
        </p:spPr>
        <p:txBody>
          <a:bodyPr/>
          <a:lstStyle/>
          <a:p>
            <a:endParaRPr lang="en-US"/>
          </a:p>
        </p:txBody>
      </p:sp>
      <p:sp>
        <p:nvSpPr>
          <p:cNvPr id="19" name="Text 17"/>
          <p:cNvSpPr/>
          <p:nvPr/>
        </p:nvSpPr>
        <p:spPr>
          <a:xfrm>
            <a:off x="9983629" y="2712244"/>
            <a:ext cx="2705100" cy="338138"/>
          </a:xfrm>
          <a:prstGeom prst="rect">
            <a:avLst/>
          </a:prstGeom>
          <a:noFill/>
          <a:ln/>
        </p:spPr>
        <p:txBody>
          <a:bodyPr wrap="none" lIns="0" tIns="0" rIns="0" bIns="0" rtlCol="0" anchor="t"/>
          <a:lstStyle/>
          <a:p>
            <a:pPr marL="0" indent="0" algn="l">
              <a:lnSpc>
                <a:spcPts val="2650"/>
              </a:lnSpc>
              <a:buNone/>
            </a:pPr>
            <a:r>
              <a:rPr lang="en-US" sz="2100" dirty="0">
                <a:solidFill>
                  <a:srgbClr val="2B2E3C"/>
                </a:solidFill>
                <a:latin typeface="Bitter Medium" pitchFamily="34" charset="0"/>
                <a:ea typeface="Bitter Medium" pitchFamily="34" charset="-122"/>
                <a:cs typeface="Bitter Medium" pitchFamily="34" charset="-120"/>
              </a:rPr>
              <a:t>Networking</a:t>
            </a:r>
            <a:endParaRPr lang="en-US" sz="2100" dirty="0"/>
          </a:p>
        </p:txBody>
      </p:sp>
      <p:sp>
        <p:nvSpPr>
          <p:cNvPr id="20" name="Text 18"/>
          <p:cNvSpPr/>
          <p:nvPr/>
        </p:nvSpPr>
        <p:spPr>
          <a:xfrm>
            <a:off x="9983629" y="3180159"/>
            <a:ext cx="3642598" cy="692467"/>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B2E3C"/>
                </a:solidFill>
                <a:latin typeface="Open Sans" pitchFamily="34" charset="0"/>
                <a:ea typeface="Open Sans" pitchFamily="34" charset="-122"/>
                <a:cs typeface="Open Sans" pitchFamily="34" charset="-120"/>
              </a:rPr>
              <a:t>"socket": ["Sockets connect client and server"]</a:t>
            </a:r>
            <a:endParaRPr lang="en-US" sz="1700" dirty="0"/>
          </a:p>
        </p:txBody>
      </p:sp>
      <p:sp>
        <p:nvSpPr>
          <p:cNvPr id="21" name="Text 19"/>
          <p:cNvSpPr/>
          <p:nvPr/>
        </p:nvSpPr>
        <p:spPr>
          <a:xfrm>
            <a:off x="9983629" y="3948351"/>
            <a:ext cx="3642598" cy="692467"/>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B2E3C"/>
                </a:solidFill>
                <a:latin typeface="Open Sans" pitchFamily="34" charset="0"/>
                <a:ea typeface="Open Sans" pitchFamily="34" charset="-122"/>
                <a:cs typeface="Open Sans" pitchFamily="34" charset="-120"/>
              </a:rPr>
              <a:t>"tcp": ["TCP is reliable and connection-oriented"]</a:t>
            </a:r>
            <a:endParaRPr lang="en-US" sz="1700" dirty="0"/>
          </a:p>
        </p:txBody>
      </p:sp>
      <p:sp>
        <p:nvSpPr>
          <p:cNvPr id="22" name="Text 20"/>
          <p:cNvSpPr/>
          <p:nvPr/>
        </p:nvSpPr>
        <p:spPr>
          <a:xfrm>
            <a:off x="9983629" y="4716542"/>
            <a:ext cx="3642598" cy="692467"/>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B2E3C"/>
                </a:solidFill>
                <a:latin typeface="Open Sans" pitchFamily="34" charset="0"/>
                <a:ea typeface="Open Sans" pitchFamily="34" charset="-122"/>
                <a:cs typeface="Open Sans" pitchFamily="34" charset="-120"/>
              </a:rPr>
              <a:t>"udp": ["UDP is fast but unreliable"]</a:t>
            </a:r>
            <a:endParaRPr lang="en-US" sz="1700" dirty="0"/>
          </a:p>
        </p:txBody>
      </p:sp>
      <p:sp>
        <p:nvSpPr>
          <p:cNvPr id="23" name="Text 21"/>
          <p:cNvSpPr/>
          <p:nvPr/>
        </p:nvSpPr>
        <p:spPr>
          <a:xfrm>
            <a:off x="9983629" y="5484733"/>
            <a:ext cx="3642598" cy="692467"/>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B2E3C"/>
                </a:solidFill>
                <a:latin typeface="Open Sans" pitchFamily="34" charset="0"/>
                <a:ea typeface="Open Sans" pitchFamily="34" charset="-122"/>
                <a:cs typeface="Open Sans" pitchFamily="34" charset="-120"/>
              </a:rPr>
              <a:t>"ip": ["IP identifies devices on a network"]</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90600"/>
            <a:ext cx="12224623"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Chatbot Responses: General Help and Farewell</a:t>
            </a:r>
            <a:endParaRPr lang="en-US" sz="4450" dirty="0"/>
          </a:p>
        </p:txBody>
      </p:sp>
      <p:sp>
        <p:nvSpPr>
          <p:cNvPr id="3" name="Text 1"/>
          <p:cNvSpPr/>
          <p:nvPr/>
        </p:nvSpPr>
        <p:spPr>
          <a:xfrm>
            <a:off x="793790" y="2153007"/>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This section covers general utility responses, including help, jokes, weather inquiries, and polite farewells.</a:t>
            </a:r>
            <a:endParaRPr lang="en-US" sz="1750" dirty="0"/>
          </a:p>
        </p:txBody>
      </p:sp>
      <p:sp>
        <p:nvSpPr>
          <p:cNvPr id="4" name="Shape 2"/>
          <p:cNvSpPr/>
          <p:nvPr/>
        </p:nvSpPr>
        <p:spPr>
          <a:xfrm>
            <a:off x="793790" y="2771061"/>
            <a:ext cx="6407944" cy="4467820"/>
          </a:xfrm>
          <a:prstGeom prst="roundRect">
            <a:avLst>
              <a:gd name="adj" fmla="val 3275"/>
            </a:avLst>
          </a:prstGeom>
          <a:solidFill>
            <a:srgbClr val="FFF8F0"/>
          </a:solidFill>
          <a:ln w="30480">
            <a:solidFill>
              <a:srgbClr val="E2C8B5"/>
            </a:solidFill>
            <a:prstDash val="solid"/>
          </a:ln>
        </p:spPr>
        <p:txBody>
          <a:bodyPr/>
          <a:lstStyle/>
          <a:p>
            <a:endParaRPr lang="en-US"/>
          </a:p>
        </p:txBody>
      </p:sp>
      <p:sp>
        <p:nvSpPr>
          <p:cNvPr id="5" name="Shape 3"/>
          <p:cNvSpPr/>
          <p:nvPr/>
        </p:nvSpPr>
        <p:spPr>
          <a:xfrm>
            <a:off x="763310" y="2771061"/>
            <a:ext cx="121920" cy="4467820"/>
          </a:xfrm>
          <a:prstGeom prst="roundRect">
            <a:avLst>
              <a:gd name="adj" fmla="val 78139"/>
            </a:avLst>
          </a:prstGeom>
          <a:solidFill>
            <a:srgbClr val="D2600F"/>
          </a:solidFill>
          <a:ln/>
        </p:spPr>
        <p:txBody>
          <a:bodyPr/>
          <a:lstStyle/>
          <a:p>
            <a:endParaRPr lang="en-US"/>
          </a:p>
        </p:txBody>
      </p:sp>
      <p:sp>
        <p:nvSpPr>
          <p:cNvPr id="6" name="Text 4"/>
          <p:cNvSpPr/>
          <p:nvPr/>
        </p:nvSpPr>
        <p:spPr>
          <a:xfrm>
            <a:off x="1142524" y="302835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General</a:t>
            </a:r>
            <a:endParaRPr lang="en-US" sz="2200" dirty="0"/>
          </a:p>
        </p:txBody>
      </p:sp>
      <p:sp>
        <p:nvSpPr>
          <p:cNvPr id="7" name="Text 5"/>
          <p:cNvSpPr/>
          <p:nvPr/>
        </p:nvSpPr>
        <p:spPr>
          <a:xfrm>
            <a:off x="1142524" y="3518773"/>
            <a:ext cx="5801916" cy="109632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B2E3C"/>
                </a:solidFill>
                <a:latin typeface="Open Sans" pitchFamily="34" charset="0"/>
                <a:ea typeface="Open Sans" pitchFamily="34" charset="-122"/>
                <a:cs typeface="Open Sans" pitchFamily="34" charset="-120"/>
              </a:rPr>
              <a:t>"help": ["You can ask about programming, study, networking, time, date", "Try asking me something </a:t>
            </a:r>
            <a:r>
              <a:rPr lang="en-US" sz="1750" dirty="0">
                <a:solidFill>
                  <a:srgbClr val="000000"/>
                </a:solidFill>
                <a:latin typeface="Open Sans" pitchFamily="34" charset="0"/>
                <a:ea typeface="Open Sans" pitchFamily="34" charset="-122"/>
                <a:cs typeface="Open Sans" pitchFamily="34" charset="-120"/>
              </a:rPr>
              <a:t>😊</a:t>
            </a:r>
            <a:r>
              <a:rPr lang="en-US" sz="1750" dirty="0">
                <a:solidFill>
                  <a:srgbClr val="2B2E3C"/>
                </a:solidFill>
                <a:latin typeface="Open Sans" pitchFamily="34" charset="0"/>
                <a:ea typeface="Open Sans" pitchFamily="34" charset="-122"/>
                <a:cs typeface="Open Sans" pitchFamily="34" charset="-120"/>
              </a:rPr>
              <a:t>"]</a:t>
            </a:r>
            <a:endParaRPr lang="en-US" sz="1750" dirty="0"/>
          </a:p>
        </p:txBody>
      </p:sp>
      <p:sp>
        <p:nvSpPr>
          <p:cNvPr id="8" name="Text 6"/>
          <p:cNvSpPr/>
          <p:nvPr/>
        </p:nvSpPr>
        <p:spPr>
          <a:xfrm>
            <a:off x="1142524" y="4694396"/>
            <a:ext cx="5801916" cy="110394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B2E3C"/>
                </a:solidFill>
                <a:latin typeface="Open Sans" pitchFamily="34" charset="0"/>
                <a:ea typeface="Open Sans" pitchFamily="34" charset="-122"/>
                <a:cs typeface="Open Sans" pitchFamily="34" charset="-120"/>
              </a:rPr>
              <a:t>"joke": ["Why do programmers hate nature? Too many bugs </a:t>
            </a:r>
            <a:r>
              <a:rPr lang="en-US" sz="1750" dirty="0">
                <a:solidFill>
                  <a:srgbClr val="000000"/>
                </a:solidFill>
                <a:latin typeface="Open Sans" pitchFamily="34" charset="0"/>
                <a:ea typeface="Open Sans" pitchFamily="34" charset="-122"/>
                <a:cs typeface="Open Sans" pitchFamily="34" charset="-120"/>
              </a:rPr>
              <a:t>😂</a:t>
            </a:r>
            <a:r>
              <a:rPr lang="en-US" sz="1750" dirty="0">
                <a:solidFill>
                  <a:srgbClr val="2B2E3C"/>
                </a:solidFill>
                <a:latin typeface="Open Sans" pitchFamily="34" charset="0"/>
                <a:ea typeface="Open Sans" pitchFamily="34" charset="-122"/>
                <a:cs typeface="Open Sans" pitchFamily="34" charset="-120"/>
              </a:rPr>
              <a:t>", "Why was the computer cold? It forgot to close Windows </a:t>
            </a:r>
            <a:r>
              <a:rPr lang="en-US" sz="1750" dirty="0">
                <a:solidFill>
                  <a:srgbClr val="000000"/>
                </a:solidFill>
                <a:latin typeface="Open Sans" pitchFamily="34" charset="0"/>
                <a:ea typeface="Open Sans" pitchFamily="34" charset="-122"/>
                <a:cs typeface="Open Sans" pitchFamily="34" charset="-120"/>
              </a:rPr>
              <a:t>😂</a:t>
            </a:r>
            <a:r>
              <a:rPr lang="en-US" sz="1750" dirty="0">
                <a:solidFill>
                  <a:srgbClr val="2B2E3C"/>
                </a:solidFill>
                <a:latin typeface="Open Sans" pitchFamily="34" charset="0"/>
                <a:ea typeface="Open Sans" pitchFamily="34" charset="-122"/>
                <a:cs typeface="Open Sans" pitchFamily="34" charset="-120"/>
              </a:rPr>
              <a:t>"]</a:t>
            </a:r>
            <a:endParaRPr lang="en-US" sz="1750" dirty="0"/>
          </a:p>
        </p:txBody>
      </p:sp>
      <p:sp>
        <p:nvSpPr>
          <p:cNvPr id="9" name="Text 7"/>
          <p:cNvSpPr/>
          <p:nvPr/>
        </p:nvSpPr>
        <p:spPr>
          <a:xfrm>
            <a:off x="1142524" y="5877639"/>
            <a:ext cx="5801916" cy="110394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B2E3C"/>
                </a:solidFill>
                <a:latin typeface="Open Sans" pitchFamily="34" charset="0"/>
                <a:ea typeface="Open Sans" pitchFamily="34" charset="-122"/>
                <a:cs typeface="Open Sans" pitchFamily="34" charset="-120"/>
              </a:rPr>
              <a:t>"weather": ["I can't check live weather, but I hope it's nice </a:t>
            </a:r>
            <a:r>
              <a:rPr lang="en-US" sz="1750" dirty="0">
                <a:solidFill>
                  <a:srgbClr val="000000"/>
                </a:solidFill>
                <a:latin typeface="Open Sans" pitchFamily="34" charset="0"/>
                <a:ea typeface="Open Sans" pitchFamily="34" charset="-122"/>
                <a:cs typeface="Open Sans" pitchFamily="34" charset="-120"/>
              </a:rPr>
              <a:t>☀️</a:t>
            </a:r>
            <a:r>
              <a:rPr lang="en-US" sz="1750" dirty="0">
                <a:solidFill>
                  <a:srgbClr val="2B2E3C"/>
                </a:solidFill>
                <a:latin typeface="Open Sans" pitchFamily="34" charset="0"/>
                <a:ea typeface="Open Sans" pitchFamily="34" charset="-122"/>
                <a:cs typeface="Open Sans" pitchFamily="34" charset="-120"/>
              </a:rPr>
              <a:t>", "Weather depends on your location </a:t>
            </a:r>
            <a:r>
              <a:rPr lang="en-US" sz="1750" dirty="0">
                <a:solidFill>
                  <a:srgbClr val="000000"/>
                </a:solidFill>
                <a:latin typeface="Open Sans" pitchFamily="34" charset="0"/>
                <a:ea typeface="Open Sans" pitchFamily="34" charset="-122"/>
                <a:cs typeface="Open Sans" pitchFamily="34" charset="-120"/>
              </a:rPr>
              <a:t>🌍</a:t>
            </a:r>
            <a:r>
              <a:rPr lang="en-US" sz="1750" dirty="0">
                <a:solidFill>
                  <a:srgbClr val="2B2E3C"/>
                </a:solidFill>
                <a:latin typeface="Open Sans" pitchFamily="34" charset="0"/>
                <a:ea typeface="Open Sans" pitchFamily="34" charset="-122"/>
                <a:cs typeface="Open Sans" pitchFamily="34" charset="-120"/>
              </a:rPr>
              <a:t>"]</a:t>
            </a:r>
            <a:endParaRPr lang="en-US" sz="1750" dirty="0"/>
          </a:p>
        </p:txBody>
      </p:sp>
      <p:sp>
        <p:nvSpPr>
          <p:cNvPr id="10" name="Shape 8"/>
          <p:cNvSpPr/>
          <p:nvPr/>
        </p:nvSpPr>
        <p:spPr>
          <a:xfrm>
            <a:off x="7428548" y="2771061"/>
            <a:ext cx="6408063" cy="4467820"/>
          </a:xfrm>
          <a:prstGeom prst="roundRect">
            <a:avLst>
              <a:gd name="adj" fmla="val 3275"/>
            </a:avLst>
          </a:prstGeom>
          <a:solidFill>
            <a:srgbClr val="FFF8F0"/>
          </a:solidFill>
          <a:ln w="30480">
            <a:solidFill>
              <a:srgbClr val="E2C8B5"/>
            </a:solidFill>
            <a:prstDash val="solid"/>
          </a:ln>
        </p:spPr>
        <p:txBody>
          <a:bodyPr/>
          <a:lstStyle/>
          <a:p>
            <a:endParaRPr lang="en-US"/>
          </a:p>
        </p:txBody>
      </p:sp>
      <p:sp>
        <p:nvSpPr>
          <p:cNvPr id="11" name="Shape 9"/>
          <p:cNvSpPr/>
          <p:nvPr/>
        </p:nvSpPr>
        <p:spPr>
          <a:xfrm>
            <a:off x="7398067" y="2771061"/>
            <a:ext cx="121920" cy="4467820"/>
          </a:xfrm>
          <a:prstGeom prst="roundRect">
            <a:avLst>
              <a:gd name="adj" fmla="val 78139"/>
            </a:avLst>
          </a:prstGeom>
          <a:solidFill>
            <a:srgbClr val="D2600F"/>
          </a:solidFill>
          <a:ln/>
        </p:spPr>
        <p:txBody>
          <a:bodyPr/>
          <a:lstStyle/>
          <a:p>
            <a:endParaRPr lang="en-US"/>
          </a:p>
        </p:txBody>
      </p:sp>
      <p:sp>
        <p:nvSpPr>
          <p:cNvPr id="12" name="Text 10"/>
          <p:cNvSpPr/>
          <p:nvPr/>
        </p:nvSpPr>
        <p:spPr>
          <a:xfrm>
            <a:off x="7777282" y="302835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Thanks &amp; Bye</a:t>
            </a:r>
            <a:endParaRPr lang="en-US" sz="2200" dirty="0"/>
          </a:p>
        </p:txBody>
      </p:sp>
      <p:sp>
        <p:nvSpPr>
          <p:cNvPr id="13" name="Text 11"/>
          <p:cNvSpPr/>
          <p:nvPr/>
        </p:nvSpPr>
        <p:spPr>
          <a:xfrm>
            <a:off x="7777282" y="3518773"/>
            <a:ext cx="5802035" cy="74104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B2E3C"/>
                </a:solidFill>
                <a:latin typeface="Open Sans" pitchFamily="34" charset="0"/>
                <a:ea typeface="Open Sans" pitchFamily="34" charset="-122"/>
                <a:cs typeface="Open Sans" pitchFamily="34" charset="-120"/>
              </a:rPr>
              <a:t>"thank": ["You're welcome </a:t>
            </a:r>
            <a:r>
              <a:rPr lang="en-US" sz="1750" dirty="0">
                <a:solidFill>
                  <a:srgbClr val="000000"/>
                </a:solidFill>
                <a:latin typeface="Open Sans" pitchFamily="34" charset="0"/>
                <a:ea typeface="Open Sans" pitchFamily="34" charset="-122"/>
                <a:cs typeface="Open Sans" pitchFamily="34" charset="-120"/>
              </a:rPr>
              <a:t>😊</a:t>
            </a:r>
            <a:r>
              <a:rPr lang="en-US" sz="1750" dirty="0">
                <a:solidFill>
                  <a:srgbClr val="2B2E3C"/>
                </a:solidFill>
                <a:latin typeface="Open Sans" pitchFamily="34" charset="0"/>
                <a:ea typeface="Open Sans" pitchFamily="34" charset="-122"/>
                <a:cs typeface="Open Sans" pitchFamily="34" charset="-120"/>
              </a:rPr>
              <a:t>", "No problem!", "Anytime </a:t>
            </a:r>
            <a:r>
              <a:rPr lang="en-US" sz="1750" dirty="0">
                <a:solidFill>
                  <a:srgbClr val="000000"/>
                </a:solidFill>
                <a:latin typeface="Open Sans" pitchFamily="34" charset="0"/>
                <a:ea typeface="Open Sans" pitchFamily="34" charset="-122"/>
                <a:cs typeface="Open Sans" pitchFamily="34" charset="-120"/>
              </a:rPr>
              <a:t>👍</a:t>
            </a:r>
            <a:r>
              <a:rPr lang="en-US" sz="1750" dirty="0">
                <a:solidFill>
                  <a:srgbClr val="2B2E3C"/>
                </a:solidFill>
                <a:latin typeface="Open Sans" pitchFamily="34" charset="0"/>
                <a:ea typeface="Open Sans" pitchFamily="34" charset="-122"/>
                <a:cs typeface="Open Sans" pitchFamily="34" charset="-120"/>
              </a:rPr>
              <a:t>"]</a:t>
            </a:r>
            <a:endParaRPr lang="en-US" sz="1750" dirty="0"/>
          </a:p>
        </p:txBody>
      </p:sp>
      <p:sp>
        <p:nvSpPr>
          <p:cNvPr id="14" name="Text 12"/>
          <p:cNvSpPr/>
          <p:nvPr/>
        </p:nvSpPr>
        <p:spPr>
          <a:xfrm>
            <a:off x="7777282" y="4339114"/>
            <a:ext cx="5802035" cy="37052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B2E3C"/>
                </a:solidFill>
                <a:latin typeface="Open Sans" pitchFamily="34" charset="0"/>
                <a:ea typeface="Open Sans" pitchFamily="34" charset="-122"/>
                <a:cs typeface="Open Sans" pitchFamily="34" charset="-120"/>
              </a:rPr>
              <a:t>"thanks": ["Glad to help!", "You're welcome </a:t>
            </a:r>
            <a:r>
              <a:rPr lang="en-US" sz="1750" dirty="0">
                <a:solidFill>
                  <a:srgbClr val="000000"/>
                </a:solidFill>
                <a:latin typeface="Open Sans" pitchFamily="34" charset="0"/>
                <a:ea typeface="Open Sans" pitchFamily="34" charset="-122"/>
                <a:cs typeface="Open Sans" pitchFamily="34" charset="-120"/>
              </a:rPr>
              <a:t>😄</a:t>
            </a:r>
            <a:r>
              <a:rPr lang="en-US" sz="1750" dirty="0">
                <a:solidFill>
                  <a:srgbClr val="2B2E3C"/>
                </a:solidFill>
                <a:latin typeface="Open Sans" pitchFamily="34" charset="0"/>
                <a:ea typeface="Open Sans" pitchFamily="34" charset="-122"/>
                <a:cs typeface="Open Sans" pitchFamily="34" charset="-120"/>
              </a:rPr>
              <a:t>"]</a:t>
            </a:r>
            <a:endParaRPr lang="en-US" sz="1750" dirty="0"/>
          </a:p>
        </p:txBody>
      </p:sp>
      <p:sp>
        <p:nvSpPr>
          <p:cNvPr id="15" name="Text 13"/>
          <p:cNvSpPr/>
          <p:nvPr/>
        </p:nvSpPr>
        <p:spPr>
          <a:xfrm>
            <a:off x="7777282" y="4788932"/>
            <a:ext cx="5802035" cy="74104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B2E3C"/>
                </a:solidFill>
                <a:latin typeface="Open Sans" pitchFamily="34" charset="0"/>
                <a:ea typeface="Open Sans" pitchFamily="34" charset="-122"/>
                <a:cs typeface="Open Sans" pitchFamily="34" charset="-120"/>
              </a:rPr>
              <a:t>"bye": ["Goodbye </a:t>
            </a:r>
            <a:r>
              <a:rPr lang="en-US" sz="1750" dirty="0">
                <a:solidFill>
                  <a:srgbClr val="000000"/>
                </a:solidFill>
                <a:latin typeface="Open Sans" pitchFamily="34" charset="0"/>
                <a:ea typeface="Open Sans" pitchFamily="34" charset="-122"/>
                <a:cs typeface="Open Sans" pitchFamily="34" charset="-120"/>
              </a:rPr>
              <a:t>👋</a:t>
            </a:r>
            <a:r>
              <a:rPr lang="en-US" sz="1750" dirty="0">
                <a:solidFill>
                  <a:srgbClr val="2B2E3C"/>
                </a:solidFill>
                <a:latin typeface="Open Sans" pitchFamily="34" charset="0"/>
                <a:ea typeface="Open Sans" pitchFamily="34" charset="-122"/>
                <a:cs typeface="Open Sans" pitchFamily="34" charset="-120"/>
              </a:rPr>
              <a:t>", "See you later!", "Take care </a:t>
            </a:r>
            <a:r>
              <a:rPr lang="en-US" sz="1750" dirty="0">
                <a:solidFill>
                  <a:srgbClr val="000000"/>
                </a:solidFill>
                <a:latin typeface="Open Sans" pitchFamily="34" charset="0"/>
                <a:ea typeface="Open Sans" pitchFamily="34" charset="-122"/>
                <a:cs typeface="Open Sans" pitchFamily="34" charset="-120"/>
              </a:rPr>
              <a:t>❤️</a:t>
            </a:r>
            <a:r>
              <a:rPr lang="en-US" sz="1750" dirty="0">
                <a:solidFill>
                  <a:srgbClr val="2B2E3C"/>
                </a:solidFill>
                <a:latin typeface="Open Sans" pitchFamily="34" charset="0"/>
                <a:ea typeface="Open Sans" pitchFamily="34" charset="-122"/>
                <a:cs typeface="Open Sans" pitchFamily="34" charset="-120"/>
              </a:rPr>
              <a:t>"]</a:t>
            </a:r>
            <a:endParaRPr lang="en-US" sz="1750" dirty="0"/>
          </a:p>
        </p:txBody>
      </p:sp>
      <p:sp>
        <p:nvSpPr>
          <p:cNvPr id="16" name="Text 14"/>
          <p:cNvSpPr/>
          <p:nvPr/>
        </p:nvSpPr>
        <p:spPr>
          <a:xfrm>
            <a:off x="7777282" y="5609273"/>
            <a:ext cx="5802035" cy="37052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B2E3C"/>
                </a:solidFill>
                <a:latin typeface="Open Sans" pitchFamily="34" charset="0"/>
                <a:ea typeface="Open Sans" pitchFamily="34" charset="-122"/>
                <a:cs typeface="Open Sans" pitchFamily="34" charset="-120"/>
              </a:rPr>
              <a:t>"exit": ["Bye </a:t>
            </a:r>
            <a:r>
              <a:rPr lang="en-US" sz="1750" dirty="0">
                <a:solidFill>
                  <a:srgbClr val="000000"/>
                </a:solidFill>
                <a:latin typeface="Open Sans" pitchFamily="34" charset="0"/>
                <a:ea typeface="Open Sans" pitchFamily="34" charset="-122"/>
                <a:cs typeface="Open Sans" pitchFamily="34" charset="-120"/>
              </a:rPr>
              <a:t>👋</a:t>
            </a:r>
            <a:r>
              <a:rPr lang="en-US" sz="1750" dirty="0">
                <a:solidFill>
                  <a:srgbClr val="2B2E3C"/>
                </a:solidFill>
                <a:latin typeface="Open Sans" pitchFamily="34" charset="0"/>
                <a:ea typeface="Open Sans" pitchFamily="34" charset="-122"/>
                <a:cs typeface="Open Sans" pitchFamily="34" charset="-120"/>
              </a:rPr>
              <a:t>", "Hope to see you again"]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7943" y="540544"/>
            <a:ext cx="5368290" cy="614124"/>
          </a:xfrm>
          <a:prstGeom prst="rect">
            <a:avLst/>
          </a:prstGeom>
          <a:noFill/>
          <a:ln/>
        </p:spPr>
        <p:txBody>
          <a:bodyPr wrap="none" lIns="0" tIns="0" rIns="0" bIns="0" rtlCol="0" anchor="t"/>
          <a:lstStyle/>
          <a:p>
            <a:pPr marL="0" indent="0" algn="l">
              <a:lnSpc>
                <a:spcPts val="4800"/>
              </a:lnSpc>
              <a:buNone/>
            </a:pPr>
            <a:r>
              <a:rPr lang="en-US" sz="3850" dirty="0">
                <a:solidFill>
                  <a:srgbClr val="2C3F42"/>
                </a:solidFill>
                <a:latin typeface="Bitter Medium" pitchFamily="34" charset="0"/>
                <a:ea typeface="Bitter Medium" pitchFamily="34" charset="-122"/>
                <a:cs typeface="Bitter Medium" pitchFamily="34" charset="-120"/>
              </a:rPr>
              <a:t>Chatbot Core Functions</a:t>
            </a:r>
            <a:endParaRPr lang="en-US" sz="3850" dirty="0"/>
          </a:p>
        </p:txBody>
      </p:sp>
      <p:sp>
        <p:nvSpPr>
          <p:cNvPr id="3" name="Text 1"/>
          <p:cNvSpPr/>
          <p:nvPr/>
        </p:nvSpPr>
        <p:spPr>
          <a:xfrm>
            <a:off x="687943" y="1547693"/>
            <a:ext cx="13254514" cy="628888"/>
          </a:xfrm>
          <a:prstGeom prst="rect">
            <a:avLst/>
          </a:prstGeom>
          <a:noFill/>
          <a:ln/>
        </p:spPr>
        <p:txBody>
          <a:bodyPr wrap="square" lIns="0" tIns="0" rIns="0" bIns="0" rtlCol="0" anchor="t"/>
          <a:lstStyle/>
          <a:p>
            <a:pPr marL="0" indent="0" algn="l">
              <a:lnSpc>
                <a:spcPts val="2450"/>
              </a:lnSpc>
              <a:buNone/>
            </a:pPr>
            <a:r>
              <a:rPr lang="en-US" sz="1500" dirty="0">
                <a:solidFill>
                  <a:srgbClr val="2B2E3C"/>
                </a:solidFill>
                <a:latin typeface="Open Sans" pitchFamily="34" charset="0"/>
                <a:ea typeface="Open Sans" pitchFamily="34" charset="-122"/>
                <a:cs typeface="Open Sans" pitchFamily="34" charset="-120"/>
              </a:rPr>
              <a:t>The chatbot's functionality relies on several key Python functions for processing messages, validating network parameters, and handling client connections.</a:t>
            </a:r>
            <a:endParaRPr lang="en-US" sz="1500" dirty="0"/>
          </a:p>
        </p:txBody>
      </p:sp>
      <p:sp>
        <p:nvSpPr>
          <p:cNvPr id="4" name="Text 2"/>
          <p:cNvSpPr/>
          <p:nvPr/>
        </p:nvSpPr>
        <p:spPr>
          <a:xfrm>
            <a:off x="687943" y="2471380"/>
            <a:ext cx="3232309" cy="322421"/>
          </a:xfrm>
          <a:prstGeom prst="rect">
            <a:avLst/>
          </a:prstGeom>
          <a:noFill/>
          <a:ln/>
        </p:spPr>
        <p:txBody>
          <a:bodyPr wrap="none" lIns="0" tIns="0" rIns="0" bIns="0" rtlCol="0" anchor="t"/>
          <a:lstStyle/>
          <a:p>
            <a:pPr marL="0" indent="0" algn="l">
              <a:lnSpc>
                <a:spcPts val="2400"/>
              </a:lnSpc>
              <a:buNone/>
            </a:pPr>
            <a:r>
              <a:rPr lang="en-US" sz="1900" dirty="0">
                <a:solidFill>
                  <a:srgbClr val="2B2E3C"/>
                </a:solidFill>
                <a:highlight>
                  <a:srgbClr val="F2EBE3"/>
                </a:highlight>
                <a:latin typeface="Consolas" pitchFamily="34" charset="0"/>
                <a:ea typeface="Consolas" pitchFamily="34" charset="-122"/>
                <a:cs typeface="Consolas" pitchFamily="34" charset="-120"/>
              </a:rPr>
              <a:t>chatbot_response(message)</a:t>
            </a:r>
            <a:endParaRPr lang="en-US" sz="1900" dirty="0"/>
          </a:p>
        </p:txBody>
      </p:sp>
      <p:sp>
        <p:nvSpPr>
          <p:cNvPr id="5" name="Text 3"/>
          <p:cNvSpPr/>
          <p:nvPr/>
        </p:nvSpPr>
        <p:spPr>
          <a:xfrm>
            <a:off x="687943" y="3088600"/>
            <a:ext cx="13254514" cy="628888"/>
          </a:xfrm>
          <a:prstGeom prst="rect">
            <a:avLst/>
          </a:prstGeom>
          <a:noFill/>
          <a:ln/>
        </p:spPr>
        <p:txBody>
          <a:bodyPr wrap="square" lIns="0" tIns="0" rIns="0" bIns="0" rtlCol="0" anchor="t"/>
          <a:lstStyle/>
          <a:p>
            <a:pPr marL="0" indent="0" algn="l">
              <a:lnSpc>
                <a:spcPts val="2450"/>
              </a:lnSpc>
              <a:buNone/>
            </a:pPr>
            <a:r>
              <a:rPr lang="en-US" sz="1500" dirty="0">
                <a:solidFill>
                  <a:srgbClr val="2B2E3C"/>
                </a:solidFill>
                <a:latin typeface="Open Sans" pitchFamily="34" charset="0"/>
                <a:ea typeface="Open Sans" pitchFamily="34" charset="-122"/>
                <a:cs typeface="Open Sans" pitchFamily="34" charset="-120"/>
              </a:rPr>
              <a:t>Processes incoming messages, converts them to lowercase, and checks for keywords to return a predefined response. It also handles time and date queries. If no keyword matches, it returns a generic "didn't understand" message.</a:t>
            </a:r>
            <a:endParaRPr lang="en-US" sz="1500" dirty="0"/>
          </a:p>
        </p:txBody>
      </p:sp>
      <p:sp>
        <p:nvSpPr>
          <p:cNvPr id="6" name="Shape 4"/>
          <p:cNvSpPr/>
          <p:nvPr/>
        </p:nvSpPr>
        <p:spPr>
          <a:xfrm>
            <a:off x="687943" y="3938588"/>
            <a:ext cx="13254514" cy="3753683"/>
          </a:xfrm>
          <a:prstGeom prst="roundRect">
            <a:avLst>
              <a:gd name="adj" fmla="val 2199"/>
            </a:avLst>
          </a:prstGeom>
          <a:solidFill>
            <a:srgbClr val="F2EBE3"/>
          </a:solidFill>
          <a:ln/>
        </p:spPr>
        <p:txBody>
          <a:bodyPr/>
          <a:lstStyle/>
          <a:p>
            <a:endParaRPr lang="en-US"/>
          </a:p>
        </p:txBody>
      </p:sp>
      <p:sp>
        <p:nvSpPr>
          <p:cNvPr id="7" name="Shape 5"/>
          <p:cNvSpPr/>
          <p:nvPr/>
        </p:nvSpPr>
        <p:spPr>
          <a:xfrm>
            <a:off x="678180" y="3938588"/>
            <a:ext cx="13274040" cy="3753683"/>
          </a:xfrm>
          <a:prstGeom prst="roundRect">
            <a:avLst>
              <a:gd name="adj" fmla="val 785"/>
            </a:avLst>
          </a:prstGeom>
          <a:solidFill>
            <a:srgbClr val="F2EBE3"/>
          </a:solidFill>
          <a:ln/>
        </p:spPr>
        <p:txBody>
          <a:bodyPr/>
          <a:lstStyle/>
          <a:p>
            <a:endParaRPr lang="en-US"/>
          </a:p>
        </p:txBody>
      </p:sp>
      <p:sp>
        <p:nvSpPr>
          <p:cNvPr id="8" name="Text 6"/>
          <p:cNvSpPr/>
          <p:nvPr/>
        </p:nvSpPr>
        <p:spPr>
          <a:xfrm>
            <a:off x="874633" y="4085987"/>
            <a:ext cx="12881134" cy="3458885"/>
          </a:xfrm>
          <a:prstGeom prst="rect">
            <a:avLst/>
          </a:prstGeom>
          <a:noFill/>
          <a:ln/>
        </p:spPr>
        <p:txBody>
          <a:bodyPr wrap="square" lIns="0" tIns="0" rIns="0" bIns="0" rtlCol="0" anchor="t"/>
          <a:lstStyle/>
          <a:p>
            <a:pPr marL="0" indent="0" algn="l">
              <a:lnSpc>
                <a:spcPts val="2450"/>
              </a:lnSpc>
              <a:buNone/>
            </a:pPr>
            <a:r>
              <a:rPr lang="en-US" sz="1500" dirty="0">
                <a:solidFill>
                  <a:srgbClr val="2B2E3C"/>
                </a:solidFill>
                <a:highlight>
                  <a:srgbClr val="F2EBE3"/>
                </a:highlight>
                <a:latin typeface="Consolas" pitchFamily="34" charset="0"/>
                <a:ea typeface="Consolas" pitchFamily="34" charset="-122"/>
                <a:cs typeface="Consolas" pitchFamily="34" charset="-120"/>
              </a:rPr>
              <a:t>def chatbot_response(message):</a:t>
            </a:r>
            <a:endParaRPr lang="en-US" sz="1500" dirty="0"/>
          </a:p>
          <a:p>
            <a:pPr marL="0" indent="0" algn="l">
              <a:lnSpc>
                <a:spcPts val="2450"/>
              </a:lnSpc>
              <a:buNone/>
            </a:pPr>
            <a:r>
              <a:rPr lang="en-US" sz="1500" dirty="0">
                <a:solidFill>
                  <a:srgbClr val="2B2E3C"/>
                </a:solidFill>
                <a:highlight>
                  <a:srgbClr val="F2EBE3"/>
                </a:highlight>
                <a:latin typeface="Consolas" pitchFamily="34" charset="0"/>
                <a:ea typeface="Consolas" pitchFamily="34" charset="-122"/>
                <a:cs typeface="Consolas" pitchFamily="34" charset="-120"/>
              </a:rPr>
              <a:t> message = message.lower()</a:t>
            </a:r>
            <a:endParaRPr lang="en-US" sz="1500" dirty="0"/>
          </a:p>
          <a:p>
            <a:pPr marL="0" indent="0" algn="l">
              <a:lnSpc>
                <a:spcPts val="2450"/>
              </a:lnSpc>
              <a:buNone/>
            </a:pPr>
            <a:r>
              <a:rPr lang="en-US" sz="1500" dirty="0">
                <a:solidFill>
                  <a:srgbClr val="2B2E3C"/>
                </a:solidFill>
                <a:highlight>
                  <a:srgbClr val="F2EBE3"/>
                </a:highlight>
                <a:latin typeface="Consolas" pitchFamily="34" charset="0"/>
                <a:ea typeface="Consolas" pitchFamily="34" charset="-122"/>
                <a:cs typeface="Consolas" pitchFamily="34" charset="-120"/>
              </a:rPr>
              <a:t> if "time" in message:</a:t>
            </a:r>
            <a:endParaRPr lang="en-US" sz="1500" dirty="0"/>
          </a:p>
          <a:p>
            <a:pPr marL="0" indent="0" algn="l">
              <a:lnSpc>
                <a:spcPts val="2450"/>
              </a:lnSpc>
              <a:buNone/>
            </a:pPr>
            <a:r>
              <a:rPr lang="en-US" sz="1500" dirty="0">
                <a:solidFill>
                  <a:srgbClr val="2B2E3C"/>
                </a:solidFill>
                <a:highlight>
                  <a:srgbClr val="F2EBE3"/>
                </a:highlight>
                <a:latin typeface="Consolas" pitchFamily="34" charset="0"/>
                <a:ea typeface="Consolas" pitchFamily="34" charset="-122"/>
                <a:cs typeface="Consolas" pitchFamily="34" charset="-120"/>
              </a:rPr>
              <a:t> return "Current time: " + datetime.datetime.now().strftime("%H:%M:%S")</a:t>
            </a:r>
            <a:endParaRPr lang="en-US" sz="1500" dirty="0"/>
          </a:p>
          <a:p>
            <a:pPr marL="0" indent="0" algn="l">
              <a:lnSpc>
                <a:spcPts val="2450"/>
              </a:lnSpc>
              <a:buNone/>
            </a:pPr>
            <a:r>
              <a:rPr lang="en-US" sz="1500" dirty="0">
                <a:solidFill>
                  <a:srgbClr val="2B2E3C"/>
                </a:solidFill>
                <a:highlight>
                  <a:srgbClr val="F2EBE3"/>
                </a:highlight>
                <a:latin typeface="Consolas" pitchFamily="34" charset="0"/>
                <a:ea typeface="Consolas" pitchFamily="34" charset="-122"/>
                <a:cs typeface="Consolas" pitchFamily="34" charset="-120"/>
              </a:rPr>
              <a:t> if "date" in message or "day" in message:</a:t>
            </a:r>
            <a:endParaRPr lang="en-US" sz="1500" dirty="0"/>
          </a:p>
          <a:p>
            <a:pPr marL="0" indent="0" algn="l">
              <a:lnSpc>
                <a:spcPts val="2450"/>
              </a:lnSpc>
              <a:buNone/>
            </a:pPr>
            <a:r>
              <a:rPr lang="en-US" sz="1500" dirty="0">
                <a:solidFill>
                  <a:srgbClr val="2B2E3C"/>
                </a:solidFill>
                <a:highlight>
                  <a:srgbClr val="F2EBE3"/>
                </a:highlight>
                <a:latin typeface="Consolas" pitchFamily="34" charset="0"/>
                <a:ea typeface="Consolas" pitchFamily="34" charset="-122"/>
                <a:cs typeface="Consolas" pitchFamily="34" charset="-120"/>
              </a:rPr>
              <a:t> return "Today's date: " + datetime.datetime.now().strftime("%Y-%m-%d")</a:t>
            </a:r>
            <a:endParaRPr lang="en-US" sz="1500" dirty="0"/>
          </a:p>
          <a:p>
            <a:pPr marL="0" indent="0" algn="l">
              <a:lnSpc>
                <a:spcPts val="2450"/>
              </a:lnSpc>
              <a:buNone/>
            </a:pPr>
            <a:r>
              <a:rPr lang="en-US" sz="1500" dirty="0">
                <a:solidFill>
                  <a:srgbClr val="2B2E3C"/>
                </a:solidFill>
                <a:highlight>
                  <a:srgbClr val="F2EBE3"/>
                </a:highlight>
                <a:latin typeface="Consolas" pitchFamily="34" charset="0"/>
                <a:ea typeface="Consolas" pitchFamily="34" charset="-122"/>
                <a:cs typeface="Consolas" pitchFamily="34" charset="-120"/>
              </a:rPr>
              <a:t> for key in responses:</a:t>
            </a:r>
            <a:endParaRPr lang="en-US" sz="1500" dirty="0"/>
          </a:p>
          <a:p>
            <a:pPr marL="0" indent="0" algn="l">
              <a:lnSpc>
                <a:spcPts val="2450"/>
              </a:lnSpc>
              <a:buNone/>
            </a:pPr>
            <a:r>
              <a:rPr lang="en-US" sz="1500" dirty="0">
                <a:solidFill>
                  <a:srgbClr val="2B2E3C"/>
                </a:solidFill>
                <a:highlight>
                  <a:srgbClr val="F2EBE3"/>
                </a:highlight>
                <a:latin typeface="Consolas" pitchFamily="34" charset="0"/>
                <a:ea typeface="Consolas" pitchFamily="34" charset="-122"/>
                <a:cs typeface="Consolas" pitchFamily="34" charset="-120"/>
              </a:rPr>
              <a:t> if key in message:</a:t>
            </a:r>
            <a:endParaRPr lang="en-US" sz="1500" dirty="0"/>
          </a:p>
          <a:p>
            <a:pPr marL="0" indent="0" algn="l">
              <a:lnSpc>
                <a:spcPts val="2450"/>
              </a:lnSpc>
              <a:buNone/>
            </a:pPr>
            <a:r>
              <a:rPr lang="en-US" sz="1500" dirty="0">
                <a:solidFill>
                  <a:srgbClr val="2B2E3C"/>
                </a:solidFill>
                <a:highlight>
                  <a:srgbClr val="F2EBE3"/>
                </a:highlight>
                <a:latin typeface="Consolas" pitchFamily="34" charset="0"/>
                <a:ea typeface="Consolas" pitchFamily="34" charset="-122"/>
                <a:cs typeface="Consolas" pitchFamily="34" charset="-120"/>
              </a:rPr>
              <a:t> return random.choice(responses[key])</a:t>
            </a:r>
            <a:endParaRPr lang="en-US" sz="1500" dirty="0"/>
          </a:p>
          <a:p>
            <a:pPr marL="0" indent="0" algn="l">
              <a:lnSpc>
                <a:spcPts val="2450"/>
              </a:lnSpc>
              <a:buNone/>
            </a:pPr>
            <a:r>
              <a:rPr lang="en-US" sz="1500" dirty="0">
                <a:solidFill>
                  <a:srgbClr val="2B2E3C"/>
                </a:solidFill>
                <a:highlight>
                  <a:srgbClr val="F2EBE3"/>
                </a:highlight>
                <a:latin typeface="Consolas" pitchFamily="34" charset="0"/>
                <a:ea typeface="Consolas" pitchFamily="34" charset="-122"/>
                <a:cs typeface="Consolas" pitchFamily="34" charset="-120"/>
              </a:rPr>
              <a:t> return random.choice([</a:t>
            </a:r>
            <a:endParaRPr lang="en-US" sz="1500" dirty="0"/>
          </a:p>
          <a:p>
            <a:pPr marL="0" indent="0" algn="l">
              <a:lnSpc>
                <a:spcPts val="2450"/>
              </a:lnSpc>
              <a:buNone/>
            </a:pPr>
            <a:r>
              <a:rPr lang="en-US" sz="1500" dirty="0">
                <a:solidFill>
                  <a:srgbClr val="2B2E3C"/>
                </a:solidFill>
                <a:highlight>
                  <a:srgbClr val="F2EBE3"/>
                </a:highlight>
                <a:latin typeface="Consolas" pitchFamily="34" charset="0"/>
                <a:ea typeface="Consolas" pitchFamily="34" charset="-122"/>
                <a:cs typeface="Consolas" pitchFamily="34" charset="-120"/>
              </a:rPr>
              <a:t> "Sorry, I didn't understand that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80467"/>
            <a:ext cx="8807410"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Server Setup and Client Handling</a:t>
            </a:r>
            <a:endParaRPr lang="en-US" sz="4450" dirty="0"/>
          </a:p>
        </p:txBody>
      </p:sp>
      <p:sp>
        <p:nvSpPr>
          <p:cNvPr id="3" name="Text 1"/>
          <p:cNvSpPr/>
          <p:nvPr/>
        </p:nvSpPr>
        <p:spPr>
          <a:xfrm>
            <a:off x="793790" y="2042874"/>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The server is designed to handle multiple clients concurrently using multi-threading, ensuring a responsive and scalable chatbot service.</a:t>
            </a:r>
            <a:endParaRPr lang="en-US" sz="1750" dirty="0"/>
          </a:p>
        </p:txBody>
      </p:sp>
      <p:sp>
        <p:nvSpPr>
          <p:cNvPr id="5" name="Shape 3"/>
          <p:cNvSpPr/>
          <p:nvPr/>
        </p:nvSpPr>
        <p:spPr>
          <a:xfrm>
            <a:off x="793790" y="3378875"/>
            <a:ext cx="13042821" cy="30480"/>
          </a:xfrm>
          <a:prstGeom prst="rect">
            <a:avLst/>
          </a:prstGeom>
          <a:solidFill>
            <a:srgbClr val="D2600F"/>
          </a:solidFill>
          <a:ln/>
        </p:spPr>
        <p:txBody>
          <a:bodyPr/>
          <a:lstStyle/>
          <a:p>
            <a:endParaRPr lang="en-US"/>
          </a:p>
        </p:txBody>
      </p:sp>
      <p:sp>
        <p:nvSpPr>
          <p:cNvPr id="6" name="Text 4"/>
          <p:cNvSpPr/>
          <p:nvPr/>
        </p:nvSpPr>
        <p:spPr>
          <a:xfrm>
            <a:off x="793790" y="3553182"/>
            <a:ext cx="3360301"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IP and Port Configuration</a:t>
            </a:r>
            <a:endParaRPr lang="en-US" sz="2200" dirty="0"/>
          </a:p>
        </p:txBody>
      </p:sp>
      <p:sp>
        <p:nvSpPr>
          <p:cNvPr id="7" name="Text 5"/>
          <p:cNvSpPr/>
          <p:nvPr/>
        </p:nvSpPr>
        <p:spPr>
          <a:xfrm>
            <a:off x="793790" y="4043601"/>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The server prompts the user to enter a valid IP address (e.g., 127.0.0.1 or 0.0.0.0) and a port number (1024-65535). Input validation ensures correct network parameters.</a:t>
            </a:r>
            <a:endParaRPr lang="en-US" sz="1750" dirty="0"/>
          </a:p>
        </p:txBody>
      </p:sp>
      <p:sp>
        <p:nvSpPr>
          <p:cNvPr id="8" name="Shape 6"/>
          <p:cNvSpPr/>
          <p:nvPr/>
        </p:nvSpPr>
        <p:spPr>
          <a:xfrm>
            <a:off x="793790" y="5024557"/>
            <a:ext cx="13042821" cy="2154555"/>
          </a:xfrm>
          <a:prstGeom prst="roundRect">
            <a:avLst>
              <a:gd name="adj" fmla="val 4422"/>
            </a:avLst>
          </a:prstGeom>
          <a:solidFill>
            <a:srgbClr val="F2EBE3"/>
          </a:solidFill>
          <a:ln/>
        </p:spPr>
        <p:txBody>
          <a:bodyPr/>
          <a:lstStyle/>
          <a:p>
            <a:endParaRPr lang="en-US"/>
          </a:p>
        </p:txBody>
      </p:sp>
      <p:sp>
        <p:nvSpPr>
          <p:cNvPr id="9" name="Shape 7"/>
          <p:cNvSpPr/>
          <p:nvPr/>
        </p:nvSpPr>
        <p:spPr>
          <a:xfrm>
            <a:off x="782479" y="5024557"/>
            <a:ext cx="13065443" cy="2154555"/>
          </a:xfrm>
          <a:prstGeom prst="roundRect">
            <a:avLst>
              <a:gd name="adj" fmla="val 1579"/>
            </a:avLst>
          </a:prstGeom>
          <a:solidFill>
            <a:srgbClr val="F2EBE3"/>
          </a:solidFill>
          <a:ln/>
        </p:spPr>
        <p:txBody>
          <a:bodyPr/>
          <a:lstStyle/>
          <a:p>
            <a:endParaRPr lang="en-US"/>
          </a:p>
        </p:txBody>
      </p:sp>
      <p:sp>
        <p:nvSpPr>
          <p:cNvPr id="10" name="Text 8"/>
          <p:cNvSpPr/>
          <p:nvPr/>
        </p:nvSpPr>
        <p:spPr>
          <a:xfrm>
            <a:off x="1009293" y="5194578"/>
            <a:ext cx="12611814" cy="1814513"/>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highlight>
                  <a:srgbClr val="F2EBE3"/>
                </a:highlight>
                <a:latin typeface="Consolas" pitchFamily="34" charset="0"/>
                <a:ea typeface="Consolas" pitchFamily="34" charset="-122"/>
                <a:cs typeface="Consolas" pitchFamily="34" charset="-120"/>
              </a:rPr>
              <a:t>while True:</a:t>
            </a:r>
            <a:endParaRPr lang="en-US" sz="1750" dirty="0"/>
          </a:p>
          <a:p>
            <a:pPr marL="0" indent="0" algn="l">
              <a:lnSpc>
                <a:spcPts val="2850"/>
              </a:lnSpc>
              <a:buNone/>
            </a:pPr>
            <a:r>
              <a:rPr lang="en-US" sz="1750" dirty="0">
                <a:solidFill>
                  <a:srgbClr val="2B2E3C"/>
                </a:solidFill>
                <a:highlight>
                  <a:srgbClr val="F2EBE3"/>
                </a:highlight>
                <a:latin typeface="Consolas" pitchFamily="34" charset="0"/>
                <a:ea typeface="Consolas" pitchFamily="34" charset="-122"/>
                <a:cs typeface="Consolas" pitchFamily="34" charset="-120"/>
              </a:rPr>
              <a:t> HOST = input("Enter IP to bind (e.g. 127.0.0.1 or 0.0.0.0): ")</a:t>
            </a:r>
            <a:endParaRPr lang="en-US" sz="1750" dirty="0"/>
          </a:p>
          <a:p>
            <a:pPr marL="0" indent="0" algn="l">
              <a:lnSpc>
                <a:spcPts val="2850"/>
              </a:lnSpc>
              <a:buNone/>
            </a:pPr>
            <a:r>
              <a:rPr lang="en-US" sz="1750" dirty="0">
                <a:solidFill>
                  <a:srgbClr val="2B2E3C"/>
                </a:solidFill>
                <a:highlight>
                  <a:srgbClr val="F2EBE3"/>
                </a:highlight>
                <a:latin typeface="Consolas" pitchFamily="34" charset="0"/>
                <a:ea typeface="Consolas" pitchFamily="34" charset="-122"/>
                <a:cs typeface="Consolas" pitchFamily="34" charset="-120"/>
              </a:rPr>
              <a:t> if is_valid_ip(HOST) or HOST == "0.0.0.0":</a:t>
            </a:r>
            <a:endParaRPr lang="en-US" sz="1750" dirty="0"/>
          </a:p>
          <a:p>
            <a:pPr marL="0" indent="0" algn="l">
              <a:lnSpc>
                <a:spcPts val="2850"/>
              </a:lnSpc>
              <a:buNone/>
            </a:pPr>
            <a:r>
              <a:rPr lang="en-US" sz="1750" dirty="0">
                <a:solidFill>
                  <a:srgbClr val="2B2E3C"/>
                </a:solidFill>
                <a:highlight>
                  <a:srgbClr val="F2EBE3"/>
                </a:highlight>
                <a:latin typeface="Consolas" pitchFamily="34" charset="0"/>
                <a:ea typeface="Consolas" pitchFamily="34" charset="-122"/>
                <a:cs typeface="Consolas" pitchFamily="34" charset="-120"/>
              </a:rPr>
              <a:t> break</a:t>
            </a:r>
            <a:endParaRPr lang="en-US" sz="1750" dirty="0"/>
          </a:p>
          <a:p>
            <a:pPr marL="0" indent="0" algn="l">
              <a:lnSpc>
                <a:spcPts val="2850"/>
              </a:lnSpc>
              <a:buNone/>
            </a:pPr>
            <a:r>
              <a:rPr lang="en-US" sz="1750" dirty="0">
                <a:solidFill>
                  <a:srgbClr val="2B2E3C"/>
                </a:solidFill>
                <a:highlight>
                  <a:srgbClr val="F2EBE3"/>
                </a:highlight>
                <a:latin typeface="Consolas" pitchFamily="34" charset="0"/>
                <a:ea typeface="Consolas" pitchFamily="34" charset="-122"/>
                <a:cs typeface="Consolas" pitchFamily="34" charset="-120"/>
              </a:rPr>
              <a:t> print("</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29389"/>
            <a:ext cx="8264247" cy="708779"/>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Console Client Implementation</a:t>
            </a:r>
            <a:endParaRPr lang="en-US" sz="4450" dirty="0"/>
          </a:p>
        </p:txBody>
      </p:sp>
      <p:sp>
        <p:nvSpPr>
          <p:cNvPr id="3" name="Text 1"/>
          <p:cNvSpPr/>
          <p:nvPr/>
        </p:nvSpPr>
        <p:spPr>
          <a:xfrm>
            <a:off x="793790" y="199179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The console client provides a basic command-line interface for users to interact with the chatbot server. It handles IP and port validation, connects to the server, and manages message exchange.</a:t>
            </a:r>
            <a:endParaRPr lang="en-US" sz="1750" dirty="0"/>
          </a:p>
        </p:txBody>
      </p:sp>
      <p:sp>
        <p:nvSpPr>
          <p:cNvPr id="4" name="Shape 2"/>
          <p:cNvSpPr/>
          <p:nvPr/>
        </p:nvSpPr>
        <p:spPr>
          <a:xfrm>
            <a:off x="793790" y="3312914"/>
            <a:ext cx="13042821" cy="4087297"/>
          </a:xfrm>
          <a:prstGeom prst="roundRect">
            <a:avLst>
              <a:gd name="adj" fmla="val 3579"/>
            </a:avLst>
          </a:prstGeom>
          <a:solidFill>
            <a:srgbClr val="FFF8F0"/>
          </a:solidFill>
          <a:ln/>
        </p:spPr>
        <p:txBody>
          <a:bodyPr/>
          <a:lstStyle/>
          <a:p>
            <a:endParaRPr lang="en-US"/>
          </a:p>
        </p:txBody>
      </p:sp>
      <p:sp>
        <p:nvSpPr>
          <p:cNvPr id="5" name="Shape 3"/>
          <p:cNvSpPr/>
          <p:nvPr/>
        </p:nvSpPr>
        <p:spPr>
          <a:xfrm>
            <a:off x="793790" y="3282434"/>
            <a:ext cx="13042821" cy="121920"/>
          </a:xfrm>
          <a:prstGeom prst="roundRect">
            <a:avLst>
              <a:gd name="adj" fmla="val 78139"/>
            </a:avLst>
          </a:prstGeom>
          <a:solidFill>
            <a:srgbClr val="D2600F"/>
          </a:solidFill>
          <a:ln/>
        </p:spPr>
        <p:txBody>
          <a:bodyPr/>
          <a:lstStyle/>
          <a:p>
            <a:endParaRPr lang="en-US"/>
          </a:p>
        </p:txBody>
      </p:sp>
      <p:sp>
        <p:nvSpPr>
          <p:cNvPr id="6" name="Shape 4"/>
          <p:cNvSpPr/>
          <p:nvPr/>
        </p:nvSpPr>
        <p:spPr>
          <a:xfrm>
            <a:off x="6974979" y="2972753"/>
            <a:ext cx="680442" cy="680442"/>
          </a:xfrm>
          <a:prstGeom prst="roundRect">
            <a:avLst>
              <a:gd name="adj" fmla="val 134383"/>
            </a:avLst>
          </a:prstGeom>
          <a:solidFill>
            <a:srgbClr val="D2600F"/>
          </a:solidFill>
          <a:ln/>
        </p:spPr>
        <p:txBody>
          <a:bodyPr/>
          <a:lstStyle/>
          <a:p>
            <a:endParaRPr lang="en-US"/>
          </a:p>
        </p:txBody>
      </p:sp>
      <p:sp>
        <p:nvSpPr>
          <p:cNvPr id="7" name="Text 5"/>
          <p:cNvSpPr/>
          <p:nvPr/>
        </p:nvSpPr>
        <p:spPr>
          <a:xfrm>
            <a:off x="7215026" y="3095905"/>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FFFFFF"/>
                </a:solidFill>
                <a:latin typeface="Bitter Medium" pitchFamily="34" charset="0"/>
                <a:ea typeface="Bitter Medium" pitchFamily="34" charset="-122"/>
                <a:cs typeface="Bitter Medium" pitchFamily="34" charset="-120"/>
              </a:rPr>
              <a:t>1</a:t>
            </a:r>
            <a:endParaRPr lang="en-US" sz="2100" dirty="0"/>
          </a:p>
        </p:txBody>
      </p:sp>
      <p:sp>
        <p:nvSpPr>
          <p:cNvPr id="8" name="Text 6"/>
          <p:cNvSpPr/>
          <p:nvPr/>
        </p:nvSpPr>
        <p:spPr>
          <a:xfrm>
            <a:off x="1051084" y="38798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IP and Port Input</a:t>
            </a:r>
            <a:endParaRPr lang="en-US" sz="2200" dirty="0"/>
          </a:p>
        </p:txBody>
      </p:sp>
      <p:sp>
        <p:nvSpPr>
          <p:cNvPr id="9" name="Text 7"/>
          <p:cNvSpPr/>
          <p:nvPr/>
        </p:nvSpPr>
        <p:spPr>
          <a:xfrm>
            <a:off x="1051084" y="4370308"/>
            <a:ext cx="12528233" cy="362903"/>
          </a:xfrm>
          <a:prstGeom prst="rect">
            <a:avLst/>
          </a:prstGeom>
          <a:noFill/>
          <a:ln/>
        </p:spPr>
        <p:txBody>
          <a:bodyPr wrap="non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The client prompts the user for the server's IP address and port, validating the input to ensure a proper connection.</a:t>
            </a:r>
            <a:endParaRPr lang="en-US" sz="1750" dirty="0"/>
          </a:p>
        </p:txBody>
      </p:sp>
      <p:sp>
        <p:nvSpPr>
          <p:cNvPr id="10" name="Shape 8"/>
          <p:cNvSpPr/>
          <p:nvPr/>
        </p:nvSpPr>
        <p:spPr>
          <a:xfrm>
            <a:off x="1051084" y="4988362"/>
            <a:ext cx="12528233" cy="2154555"/>
          </a:xfrm>
          <a:prstGeom prst="roundRect">
            <a:avLst>
              <a:gd name="adj" fmla="val 4422"/>
            </a:avLst>
          </a:prstGeom>
          <a:solidFill>
            <a:srgbClr val="F2EBE3"/>
          </a:solidFill>
          <a:ln/>
        </p:spPr>
        <p:txBody>
          <a:bodyPr/>
          <a:lstStyle/>
          <a:p>
            <a:endParaRPr lang="en-US"/>
          </a:p>
        </p:txBody>
      </p:sp>
      <p:sp>
        <p:nvSpPr>
          <p:cNvPr id="11" name="Shape 9"/>
          <p:cNvSpPr/>
          <p:nvPr/>
        </p:nvSpPr>
        <p:spPr>
          <a:xfrm>
            <a:off x="1039773" y="4988362"/>
            <a:ext cx="12550854" cy="2154555"/>
          </a:xfrm>
          <a:prstGeom prst="roundRect">
            <a:avLst>
              <a:gd name="adj" fmla="val 1579"/>
            </a:avLst>
          </a:prstGeom>
          <a:solidFill>
            <a:srgbClr val="F2EBE3"/>
          </a:solidFill>
          <a:ln/>
        </p:spPr>
        <p:txBody>
          <a:bodyPr/>
          <a:lstStyle/>
          <a:p>
            <a:endParaRPr lang="en-US"/>
          </a:p>
        </p:txBody>
      </p:sp>
      <p:sp>
        <p:nvSpPr>
          <p:cNvPr id="12" name="Text 10"/>
          <p:cNvSpPr/>
          <p:nvPr/>
        </p:nvSpPr>
        <p:spPr>
          <a:xfrm>
            <a:off x="1266587" y="5158383"/>
            <a:ext cx="12097226" cy="1814513"/>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highlight>
                  <a:srgbClr val="F2EBE3"/>
                </a:highlight>
                <a:latin typeface="Consolas" pitchFamily="34" charset="0"/>
                <a:ea typeface="Consolas" pitchFamily="34" charset="-122"/>
                <a:cs typeface="Consolas" pitchFamily="34" charset="-120"/>
              </a:rPr>
              <a:t>while True:</a:t>
            </a:r>
            <a:endParaRPr lang="en-US" sz="1750" dirty="0"/>
          </a:p>
          <a:p>
            <a:pPr marL="0" indent="0" algn="l">
              <a:lnSpc>
                <a:spcPts val="2850"/>
              </a:lnSpc>
              <a:buNone/>
            </a:pPr>
            <a:r>
              <a:rPr lang="en-US" sz="1750" dirty="0">
                <a:solidFill>
                  <a:srgbClr val="2B2E3C"/>
                </a:solidFill>
                <a:highlight>
                  <a:srgbClr val="F2EBE3"/>
                </a:highlight>
                <a:latin typeface="Consolas" pitchFamily="34" charset="0"/>
                <a:ea typeface="Consolas" pitchFamily="34" charset="-122"/>
                <a:cs typeface="Consolas" pitchFamily="34" charset="-120"/>
              </a:rPr>
              <a:t> HOST = input("Enter Server IP: ")</a:t>
            </a:r>
            <a:endParaRPr lang="en-US" sz="1750" dirty="0"/>
          </a:p>
          <a:p>
            <a:pPr marL="0" indent="0" algn="l">
              <a:lnSpc>
                <a:spcPts val="2850"/>
              </a:lnSpc>
              <a:buNone/>
            </a:pPr>
            <a:r>
              <a:rPr lang="en-US" sz="1750" dirty="0">
                <a:solidFill>
                  <a:srgbClr val="2B2E3C"/>
                </a:solidFill>
                <a:highlight>
                  <a:srgbClr val="F2EBE3"/>
                </a:highlight>
                <a:latin typeface="Consolas" pitchFamily="34" charset="0"/>
                <a:ea typeface="Consolas" pitchFamily="34" charset="-122"/>
                <a:cs typeface="Consolas" pitchFamily="34" charset="-120"/>
              </a:rPr>
              <a:t> if is_valid_ip(HOST):</a:t>
            </a:r>
            <a:endParaRPr lang="en-US" sz="1750" dirty="0"/>
          </a:p>
          <a:p>
            <a:pPr marL="0" indent="0" algn="l">
              <a:lnSpc>
                <a:spcPts val="2850"/>
              </a:lnSpc>
              <a:buNone/>
            </a:pPr>
            <a:r>
              <a:rPr lang="en-US" sz="1750" dirty="0">
                <a:solidFill>
                  <a:srgbClr val="2B2E3C"/>
                </a:solidFill>
                <a:highlight>
                  <a:srgbClr val="F2EBE3"/>
                </a:highlight>
                <a:latin typeface="Consolas" pitchFamily="34" charset="0"/>
                <a:ea typeface="Consolas" pitchFamily="34" charset="-122"/>
                <a:cs typeface="Consolas" pitchFamily="34" charset="-120"/>
              </a:rPr>
              <a:t> break</a:t>
            </a:r>
            <a:endParaRPr lang="en-US" sz="1750" dirty="0"/>
          </a:p>
          <a:p>
            <a:pPr marL="0" indent="0" algn="l">
              <a:lnSpc>
                <a:spcPts val="2850"/>
              </a:lnSpc>
              <a:buNone/>
            </a:pPr>
            <a:r>
              <a:rPr lang="en-US" sz="1750" dirty="0">
                <a:solidFill>
                  <a:srgbClr val="2B2E3C"/>
                </a:solidFill>
                <a:highlight>
                  <a:srgbClr val="F2EBE3"/>
                </a:highlight>
                <a:latin typeface="Consolas" pitchFamily="34" charset="0"/>
                <a:ea typeface="Consolas" pitchFamily="34" charset="-122"/>
                <a:cs typeface="Consolas" pitchFamily="34" charset="-120"/>
              </a:rPr>
              <a:t> print("</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7928" y="706041"/>
            <a:ext cx="6914317" cy="506968"/>
          </a:xfrm>
          <a:prstGeom prst="rect">
            <a:avLst/>
          </a:prstGeom>
          <a:noFill/>
          <a:ln/>
        </p:spPr>
        <p:txBody>
          <a:bodyPr wrap="none" lIns="0" tIns="0" rIns="0" bIns="0" rtlCol="0" anchor="t"/>
          <a:lstStyle/>
          <a:p>
            <a:pPr marL="0" indent="0" algn="l">
              <a:lnSpc>
                <a:spcPts val="3950"/>
              </a:lnSpc>
              <a:buNone/>
            </a:pPr>
            <a:r>
              <a:rPr lang="en-US" sz="3150" dirty="0">
                <a:solidFill>
                  <a:srgbClr val="2C3F42"/>
                </a:solidFill>
                <a:latin typeface="Bitter Medium" pitchFamily="34" charset="0"/>
                <a:ea typeface="Bitter Medium" pitchFamily="34" charset="-122"/>
                <a:cs typeface="Bitter Medium" pitchFamily="34" charset="-120"/>
              </a:rPr>
              <a:t>Graphical User Interface (GUI) Client</a:t>
            </a:r>
            <a:endParaRPr lang="en-US" sz="3150" dirty="0"/>
          </a:p>
        </p:txBody>
      </p:sp>
      <p:sp>
        <p:nvSpPr>
          <p:cNvPr id="3" name="Text 1"/>
          <p:cNvSpPr/>
          <p:nvPr/>
        </p:nvSpPr>
        <p:spPr>
          <a:xfrm>
            <a:off x="567928" y="1537454"/>
            <a:ext cx="13494544" cy="519113"/>
          </a:xfrm>
          <a:prstGeom prst="rect">
            <a:avLst/>
          </a:prstGeom>
          <a:noFill/>
          <a:ln/>
        </p:spPr>
        <p:txBody>
          <a:bodyPr wrap="square" lIns="0" tIns="0" rIns="0" bIns="0" rtlCol="0" anchor="t"/>
          <a:lstStyle/>
          <a:p>
            <a:pPr marL="0" indent="0" algn="l">
              <a:lnSpc>
                <a:spcPts val="2000"/>
              </a:lnSpc>
              <a:buNone/>
            </a:pPr>
            <a:r>
              <a:rPr lang="en-US" sz="1250" dirty="0">
                <a:solidFill>
                  <a:srgbClr val="2B2E3C"/>
                </a:solidFill>
                <a:latin typeface="Open Sans" pitchFamily="34" charset="0"/>
                <a:ea typeface="Open Sans" pitchFamily="34" charset="-122"/>
                <a:cs typeface="Open Sans" pitchFamily="34" charset="-120"/>
              </a:rPr>
              <a:t>The GUI client, built with Tkinter, offers a more user-friendly experience for interacting with the chatbot. It includes separate screens for login and chat, along with robust input validation.</a:t>
            </a:r>
            <a:endParaRPr lang="en-US" sz="1250" dirty="0"/>
          </a:p>
        </p:txBody>
      </p:sp>
      <p:sp>
        <p:nvSpPr>
          <p:cNvPr id="4" name="Shape 2"/>
          <p:cNvSpPr/>
          <p:nvPr/>
        </p:nvSpPr>
        <p:spPr>
          <a:xfrm>
            <a:off x="567928" y="2239089"/>
            <a:ext cx="6666190" cy="5284470"/>
          </a:xfrm>
          <a:prstGeom prst="roundRect">
            <a:avLst>
              <a:gd name="adj" fmla="val 1290"/>
            </a:avLst>
          </a:prstGeom>
          <a:solidFill>
            <a:srgbClr val="FCE2CF"/>
          </a:solidFill>
          <a:ln w="7620">
            <a:solidFill>
              <a:srgbClr val="E2C8B5"/>
            </a:solidFill>
            <a:prstDash val="solid"/>
          </a:ln>
        </p:spPr>
        <p:txBody>
          <a:bodyPr/>
          <a:lstStyle/>
          <a:p>
            <a:endParaRPr lang="en-US"/>
          </a:p>
        </p:txBody>
      </p:sp>
      <p:sp>
        <p:nvSpPr>
          <p:cNvPr id="5" name="Text 3"/>
          <p:cNvSpPr/>
          <p:nvPr/>
        </p:nvSpPr>
        <p:spPr>
          <a:xfrm>
            <a:off x="737711" y="2408873"/>
            <a:ext cx="2028349" cy="268843"/>
          </a:xfrm>
          <a:prstGeom prst="rect">
            <a:avLst/>
          </a:prstGeom>
          <a:noFill/>
          <a:ln/>
        </p:spPr>
        <p:txBody>
          <a:bodyPr wrap="none" lIns="0" tIns="0" rIns="0" bIns="0" rtlCol="0" anchor="t"/>
          <a:lstStyle/>
          <a:p>
            <a:pPr marL="0" indent="0" algn="l">
              <a:lnSpc>
                <a:spcPts val="1950"/>
              </a:lnSpc>
              <a:buNone/>
            </a:pPr>
            <a:r>
              <a:rPr lang="en-US" sz="1550" dirty="0">
                <a:solidFill>
                  <a:srgbClr val="2B2E3C"/>
                </a:solidFill>
                <a:highlight>
                  <a:srgbClr val="F2EBE3"/>
                </a:highlight>
                <a:latin typeface="Consolas" pitchFamily="34" charset="0"/>
                <a:ea typeface="Consolas" pitchFamily="34" charset="-122"/>
                <a:cs typeface="Consolas" pitchFamily="34" charset="-120"/>
              </a:rPr>
              <a:t>ChatClientGUI</a:t>
            </a:r>
            <a:r>
              <a:rPr lang="en-US" sz="1550" dirty="0">
                <a:solidFill>
                  <a:srgbClr val="2B2E3C"/>
                </a:solidFill>
                <a:latin typeface="Bitter Medium" pitchFamily="34" charset="0"/>
                <a:ea typeface="Bitter Medium" pitchFamily="34" charset="-122"/>
                <a:cs typeface="Bitter Medium" pitchFamily="34" charset="-120"/>
              </a:rPr>
              <a:t> Class</a:t>
            </a:r>
            <a:endParaRPr lang="en-US" sz="1550" dirty="0"/>
          </a:p>
        </p:txBody>
      </p:sp>
      <p:sp>
        <p:nvSpPr>
          <p:cNvPr id="6" name="Text 4"/>
          <p:cNvSpPr/>
          <p:nvPr/>
        </p:nvSpPr>
        <p:spPr>
          <a:xfrm>
            <a:off x="737711" y="2774990"/>
            <a:ext cx="6326624" cy="519113"/>
          </a:xfrm>
          <a:prstGeom prst="rect">
            <a:avLst/>
          </a:prstGeom>
          <a:noFill/>
          <a:ln/>
        </p:spPr>
        <p:txBody>
          <a:bodyPr wrap="square" lIns="0" tIns="0" rIns="0" bIns="0" rtlCol="0" anchor="t"/>
          <a:lstStyle/>
          <a:p>
            <a:pPr marL="0" indent="0" algn="l">
              <a:lnSpc>
                <a:spcPts val="2000"/>
              </a:lnSpc>
              <a:buNone/>
            </a:pPr>
            <a:r>
              <a:rPr lang="en-US" sz="1250" dirty="0">
                <a:solidFill>
                  <a:srgbClr val="2B2E3C"/>
                </a:solidFill>
                <a:latin typeface="Open Sans" pitchFamily="34" charset="0"/>
                <a:ea typeface="Open Sans" pitchFamily="34" charset="-122"/>
                <a:cs typeface="Open Sans" pitchFamily="34" charset="-120"/>
              </a:rPr>
              <a:t>Initializes the Tkinter window and sets up the client's state. It manages the transition between the login and chat interfaces.</a:t>
            </a:r>
            <a:endParaRPr lang="en-US" sz="1250" dirty="0"/>
          </a:p>
        </p:txBody>
      </p:sp>
      <p:sp>
        <p:nvSpPr>
          <p:cNvPr id="7" name="Shape 5"/>
          <p:cNvSpPr/>
          <p:nvPr/>
        </p:nvSpPr>
        <p:spPr>
          <a:xfrm>
            <a:off x="737711" y="3476625"/>
            <a:ext cx="6326624" cy="2319814"/>
          </a:xfrm>
          <a:prstGeom prst="roundRect">
            <a:avLst>
              <a:gd name="adj" fmla="val 2938"/>
            </a:avLst>
          </a:prstGeom>
          <a:solidFill>
            <a:srgbClr val="F2EBE3"/>
          </a:solidFill>
          <a:ln/>
        </p:spPr>
        <p:txBody>
          <a:bodyPr/>
          <a:lstStyle/>
          <a:p>
            <a:endParaRPr lang="en-US"/>
          </a:p>
        </p:txBody>
      </p:sp>
      <p:sp>
        <p:nvSpPr>
          <p:cNvPr id="8" name="Shape 6"/>
          <p:cNvSpPr/>
          <p:nvPr/>
        </p:nvSpPr>
        <p:spPr>
          <a:xfrm>
            <a:off x="729615" y="3476625"/>
            <a:ext cx="6342817" cy="2319814"/>
          </a:xfrm>
          <a:prstGeom prst="roundRect">
            <a:avLst>
              <a:gd name="adj" fmla="val 1049"/>
            </a:avLst>
          </a:prstGeom>
          <a:solidFill>
            <a:srgbClr val="F2EBE3"/>
          </a:solidFill>
          <a:ln/>
        </p:spPr>
        <p:txBody>
          <a:bodyPr/>
          <a:lstStyle/>
          <a:p>
            <a:endParaRPr lang="en-US"/>
          </a:p>
        </p:txBody>
      </p:sp>
      <p:sp>
        <p:nvSpPr>
          <p:cNvPr id="9" name="Text 7"/>
          <p:cNvSpPr/>
          <p:nvPr/>
        </p:nvSpPr>
        <p:spPr>
          <a:xfrm>
            <a:off x="891778" y="3598307"/>
            <a:ext cx="6018490" cy="2076450"/>
          </a:xfrm>
          <a:prstGeom prst="rect">
            <a:avLst/>
          </a:prstGeom>
          <a:noFill/>
          <a:ln/>
        </p:spPr>
        <p:txBody>
          <a:bodyPr wrap="square" lIns="0" tIns="0" rIns="0" bIns="0" rtlCol="0" anchor="t"/>
          <a:lstStyle/>
          <a:p>
            <a:pPr marL="0" indent="0" algn="l">
              <a:lnSpc>
                <a:spcPts val="2000"/>
              </a:lnSpc>
              <a:buNone/>
            </a:pPr>
            <a:r>
              <a:rPr lang="en-US" sz="1250" dirty="0">
                <a:solidFill>
                  <a:srgbClr val="2B2E3C"/>
                </a:solidFill>
                <a:highlight>
                  <a:srgbClr val="F2EBE3"/>
                </a:highlight>
                <a:latin typeface="Consolas" pitchFamily="34" charset="0"/>
                <a:ea typeface="Consolas" pitchFamily="34" charset="-122"/>
                <a:cs typeface="Consolas" pitchFamily="34" charset="-120"/>
              </a:rPr>
              <a:t>class ChatClientGUI:
    def __init__(self, root):
        self.root = root
        self.root.title("Chatbot Client")
        self.root.geometry("500x500")
        self.client = None
        self.build_login_ui()
</a:t>
            </a:r>
            <a:endParaRPr lang="en-US" sz="1250" dirty="0"/>
          </a:p>
        </p:txBody>
      </p:sp>
      <p:sp>
        <p:nvSpPr>
          <p:cNvPr id="10" name="Shape 8"/>
          <p:cNvSpPr/>
          <p:nvPr/>
        </p:nvSpPr>
        <p:spPr>
          <a:xfrm>
            <a:off x="7396282" y="2239089"/>
            <a:ext cx="6666190" cy="5284470"/>
          </a:xfrm>
          <a:prstGeom prst="roundRect">
            <a:avLst>
              <a:gd name="adj" fmla="val 1290"/>
            </a:avLst>
          </a:prstGeom>
          <a:solidFill>
            <a:srgbClr val="FCE2CF"/>
          </a:solidFill>
          <a:ln w="7620">
            <a:solidFill>
              <a:srgbClr val="E2C8B5"/>
            </a:solidFill>
            <a:prstDash val="solid"/>
          </a:ln>
        </p:spPr>
        <p:txBody>
          <a:bodyPr/>
          <a:lstStyle/>
          <a:p>
            <a:endParaRPr lang="en-US"/>
          </a:p>
        </p:txBody>
      </p:sp>
      <p:sp>
        <p:nvSpPr>
          <p:cNvPr id="11" name="Text 9"/>
          <p:cNvSpPr/>
          <p:nvPr/>
        </p:nvSpPr>
        <p:spPr>
          <a:xfrm>
            <a:off x="7566065" y="2408873"/>
            <a:ext cx="2028349" cy="268843"/>
          </a:xfrm>
          <a:prstGeom prst="rect">
            <a:avLst/>
          </a:prstGeom>
          <a:noFill/>
          <a:ln/>
        </p:spPr>
        <p:txBody>
          <a:bodyPr wrap="none" lIns="0" tIns="0" rIns="0" bIns="0" rtlCol="0" anchor="t"/>
          <a:lstStyle/>
          <a:p>
            <a:pPr marL="0" indent="0" algn="l">
              <a:lnSpc>
                <a:spcPts val="1950"/>
              </a:lnSpc>
              <a:buNone/>
            </a:pPr>
            <a:r>
              <a:rPr lang="en-US" sz="1550" dirty="0">
                <a:solidFill>
                  <a:srgbClr val="2B2E3C"/>
                </a:solidFill>
                <a:highlight>
                  <a:srgbClr val="F2EBE3"/>
                </a:highlight>
                <a:latin typeface="Consolas" pitchFamily="34" charset="0"/>
                <a:ea typeface="Consolas" pitchFamily="34" charset="-122"/>
                <a:cs typeface="Consolas" pitchFamily="34" charset="-120"/>
              </a:rPr>
              <a:t>build_login_ui()</a:t>
            </a:r>
            <a:endParaRPr lang="en-US" sz="1550" dirty="0"/>
          </a:p>
        </p:txBody>
      </p:sp>
      <p:sp>
        <p:nvSpPr>
          <p:cNvPr id="12" name="Text 10"/>
          <p:cNvSpPr/>
          <p:nvPr/>
        </p:nvSpPr>
        <p:spPr>
          <a:xfrm>
            <a:off x="7566065" y="2774990"/>
            <a:ext cx="6326624" cy="519113"/>
          </a:xfrm>
          <a:prstGeom prst="rect">
            <a:avLst/>
          </a:prstGeom>
          <a:noFill/>
          <a:ln/>
        </p:spPr>
        <p:txBody>
          <a:bodyPr wrap="square" lIns="0" tIns="0" rIns="0" bIns="0" rtlCol="0" anchor="t"/>
          <a:lstStyle/>
          <a:p>
            <a:pPr marL="0" indent="0" algn="l">
              <a:lnSpc>
                <a:spcPts val="2000"/>
              </a:lnSpc>
              <a:buNone/>
            </a:pPr>
            <a:r>
              <a:rPr lang="en-US" sz="1250" dirty="0">
                <a:solidFill>
                  <a:srgbClr val="2B2E3C"/>
                </a:solidFill>
                <a:latin typeface="Open Sans" pitchFamily="34" charset="0"/>
                <a:ea typeface="Open Sans" pitchFamily="34" charset="-122"/>
                <a:cs typeface="Open Sans" pitchFamily="34" charset="-120"/>
              </a:rPr>
              <a:t>Creates the login screen with input fields for Server IP, Port, and Username, and a "Connect" button.</a:t>
            </a:r>
            <a:endParaRPr lang="en-US" sz="1250" dirty="0"/>
          </a:p>
        </p:txBody>
      </p:sp>
      <p:sp>
        <p:nvSpPr>
          <p:cNvPr id="13" name="Shape 11"/>
          <p:cNvSpPr/>
          <p:nvPr/>
        </p:nvSpPr>
        <p:spPr>
          <a:xfrm>
            <a:off x="7566065" y="3476625"/>
            <a:ext cx="6326624" cy="3877151"/>
          </a:xfrm>
          <a:prstGeom prst="roundRect">
            <a:avLst>
              <a:gd name="adj" fmla="val 1758"/>
            </a:avLst>
          </a:prstGeom>
          <a:solidFill>
            <a:srgbClr val="F2EBE3"/>
          </a:solidFill>
          <a:ln/>
        </p:spPr>
        <p:txBody>
          <a:bodyPr/>
          <a:lstStyle/>
          <a:p>
            <a:endParaRPr lang="en-US"/>
          </a:p>
        </p:txBody>
      </p:sp>
      <p:sp>
        <p:nvSpPr>
          <p:cNvPr id="14" name="Shape 12"/>
          <p:cNvSpPr/>
          <p:nvPr/>
        </p:nvSpPr>
        <p:spPr>
          <a:xfrm>
            <a:off x="7557968" y="3476625"/>
            <a:ext cx="6342817" cy="3877151"/>
          </a:xfrm>
          <a:prstGeom prst="roundRect">
            <a:avLst>
              <a:gd name="adj" fmla="val 628"/>
            </a:avLst>
          </a:prstGeom>
          <a:solidFill>
            <a:srgbClr val="F2EBE3"/>
          </a:solidFill>
          <a:ln/>
        </p:spPr>
        <p:txBody>
          <a:bodyPr/>
          <a:lstStyle/>
          <a:p>
            <a:endParaRPr lang="en-US"/>
          </a:p>
        </p:txBody>
      </p:sp>
      <p:sp>
        <p:nvSpPr>
          <p:cNvPr id="15" name="Text 13"/>
          <p:cNvSpPr/>
          <p:nvPr/>
        </p:nvSpPr>
        <p:spPr>
          <a:xfrm>
            <a:off x="7720132" y="3598307"/>
            <a:ext cx="6018490" cy="3633788"/>
          </a:xfrm>
          <a:prstGeom prst="rect">
            <a:avLst/>
          </a:prstGeom>
          <a:noFill/>
          <a:ln/>
        </p:spPr>
        <p:txBody>
          <a:bodyPr wrap="square" lIns="0" tIns="0" rIns="0" bIns="0" rtlCol="0" anchor="t"/>
          <a:lstStyle/>
          <a:p>
            <a:pPr marL="0" indent="0" algn="l">
              <a:lnSpc>
                <a:spcPts val="2000"/>
              </a:lnSpc>
              <a:buNone/>
            </a:pPr>
            <a:r>
              <a:rPr lang="en-US" sz="1250" dirty="0">
                <a:solidFill>
                  <a:srgbClr val="2B2E3C"/>
                </a:solidFill>
                <a:highlight>
                  <a:srgbClr val="F2EBE3"/>
                </a:highlight>
                <a:latin typeface="Consolas" pitchFamily="34" charset="0"/>
                <a:ea typeface="Consolas" pitchFamily="34" charset="-122"/>
                <a:cs typeface="Consolas" pitchFamily="34" charset="-120"/>
              </a:rPr>
              <a:t>def build_login_ui(self):
 self.clear_screen()
 tk.Label(self.root, text="Chatbot Login", font=("Arial", 16)).pack(pady=10)
 tk.Label(self.root, text="Server IP").pack()
 self.ip_entry = tk.Entry(self.root)
 self.ip_entry.pack()
 tk.Label(self.root, text="Port").pack()
 self.port_entry = tk.Entry(self.root)
 self.port_entry.pack()
 tk.Label(self.root, text="Username").pack()
 self.username_entry = tk.Entry(self.root)
 self.username_entry.pack()
 tk.Button(self.root, text="Connect", command=self.connect).pack(pady=10)
</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21838" y="331351"/>
            <a:ext cx="6656903" cy="376595"/>
          </a:xfrm>
          <a:prstGeom prst="rect">
            <a:avLst/>
          </a:prstGeom>
          <a:noFill/>
          <a:ln/>
        </p:spPr>
        <p:txBody>
          <a:bodyPr wrap="none" lIns="0" tIns="0" rIns="0" bIns="0" rtlCol="0" anchor="t"/>
          <a:lstStyle/>
          <a:p>
            <a:pPr marL="0" indent="0" algn="l">
              <a:lnSpc>
                <a:spcPts val="2950"/>
              </a:lnSpc>
              <a:buNone/>
            </a:pPr>
            <a:r>
              <a:rPr lang="en-US" sz="2350" dirty="0">
                <a:solidFill>
                  <a:srgbClr val="2C3F42"/>
                </a:solidFill>
                <a:latin typeface="Bitter Medium" pitchFamily="34" charset="0"/>
                <a:ea typeface="Bitter Medium" pitchFamily="34" charset="-122"/>
                <a:cs typeface="Bitter Medium" pitchFamily="34" charset="-120"/>
              </a:rPr>
              <a:t>GUI Client: Chat Interface and Connection Logic</a:t>
            </a:r>
            <a:endParaRPr lang="en-US" sz="2350" dirty="0"/>
          </a:p>
        </p:txBody>
      </p:sp>
      <p:sp>
        <p:nvSpPr>
          <p:cNvPr id="3" name="Text 1"/>
          <p:cNvSpPr/>
          <p:nvPr/>
        </p:nvSpPr>
        <p:spPr>
          <a:xfrm>
            <a:off x="421838" y="948928"/>
            <a:ext cx="13786723" cy="192762"/>
          </a:xfrm>
          <a:prstGeom prst="rect">
            <a:avLst/>
          </a:prstGeom>
          <a:noFill/>
          <a:ln/>
        </p:spPr>
        <p:txBody>
          <a:bodyPr wrap="none" lIns="0" tIns="0" rIns="0" bIns="0" rtlCol="0" anchor="t"/>
          <a:lstStyle/>
          <a:p>
            <a:pPr marL="0" indent="0" algn="l">
              <a:lnSpc>
                <a:spcPts val="1500"/>
              </a:lnSpc>
              <a:buNone/>
            </a:pPr>
            <a:r>
              <a:rPr lang="en-US" sz="900" dirty="0">
                <a:solidFill>
                  <a:srgbClr val="2B2E3C"/>
                </a:solidFill>
                <a:latin typeface="Open Sans" pitchFamily="34" charset="0"/>
                <a:ea typeface="Open Sans" pitchFamily="34" charset="-122"/>
                <a:cs typeface="Open Sans" pitchFamily="34" charset="-120"/>
              </a:rPr>
              <a:t>Once connected, the GUI client transitions to a chat interface, enabling seamless communication with the chatbot. It also handles connection attempts and error messages.</a:t>
            </a:r>
            <a:endParaRPr lang="en-US" sz="900" dirty="0"/>
          </a:p>
        </p:txBody>
      </p:sp>
      <p:sp>
        <p:nvSpPr>
          <p:cNvPr id="4" name="Shape 2"/>
          <p:cNvSpPr/>
          <p:nvPr/>
        </p:nvSpPr>
        <p:spPr>
          <a:xfrm>
            <a:off x="421838" y="1277183"/>
            <a:ext cx="6833116" cy="6623447"/>
          </a:xfrm>
          <a:prstGeom prst="roundRect">
            <a:avLst>
              <a:gd name="adj" fmla="val 764"/>
            </a:avLst>
          </a:prstGeom>
          <a:solidFill>
            <a:srgbClr val="FCE2CF"/>
          </a:solidFill>
          <a:ln w="7620">
            <a:solidFill>
              <a:srgbClr val="E2C8B5"/>
            </a:solidFill>
            <a:prstDash val="solid"/>
          </a:ln>
        </p:spPr>
        <p:txBody>
          <a:bodyPr/>
          <a:lstStyle/>
          <a:p>
            <a:endParaRPr lang="en-US"/>
          </a:p>
        </p:txBody>
      </p:sp>
      <p:sp>
        <p:nvSpPr>
          <p:cNvPr id="5" name="Text 3"/>
          <p:cNvSpPr/>
          <p:nvPr/>
        </p:nvSpPr>
        <p:spPr>
          <a:xfrm>
            <a:off x="549950" y="1405295"/>
            <a:ext cx="1506498" cy="195858"/>
          </a:xfrm>
          <a:prstGeom prst="rect">
            <a:avLst/>
          </a:prstGeom>
          <a:noFill/>
          <a:ln/>
        </p:spPr>
        <p:txBody>
          <a:bodyPr wrap="none" lIns="0" tIns="0" rIns="0" bIns="0" rtlCol="0" anchor="t"/>
          <a:lstStyle/>
          <a:p>
            <a:pPr marL="0" indent="0" algn="l">
              <a:lnSpc>
                <a:spcPts val="1450"/>
              </a:lnSpc>
              <a:buNone/>
            </a:pPr>
            <a:r>
              <a:rPr lang="en-US" sz="1150" dirty="0">
                <a:solidFill>
                  <a:srgbClr val="2B2E3C"/>
                </a:solidFill>
                <a:highlight>
                  <a:srgbClr val="F2EBE3"/>
                </a:highlight>
                <a:latin typeface="Consolas" pitchFamily="34" charset="0"/>
                <a:ea typeface="Consolas" pitchFamily="34" charset="-122"/>
                <a:cs typeface="Consolas" pitchFamily="34" charset="-120"/>
              </a:rPr>
              <a:t>build_chat_ui()</a:t>
            </a:r>
            <a:endParaRPr lang="en-US" sz="1150" dirty="0"/>
          </a:p>
        </p:txBody>
      </p:sp>
      <p:sp>
        <p:nvSpPr>
          <p:cNvPr id="6" name="Text 4"/>
          <p:cNvSpPr/>
          <p:nvPr/>
        </p:nvSpPr>
        <p:spPr>
          <a:xfrm>
            <a:off x="549950" y="1673423"/>
            <a:ext cx="6576893" cy="385524"/>
          </a:xfrm>
          <a:prstGeom prst="rect">
            <a:avLst/>
          </a:prstGeom>
          <a:noFill/>
          <a:ln/>
        </p:spPr>
        <p:txBody>
          <a:bodyPr wrap="square" lIns="0" tIns="0" rIns="0" bIns="0" rtlCol="0" anchor="t"/>
          <a:lstStyle/>
          <a:p>
            <a:pPr marL="0" indent="0" algn="l">
              <a:lnSpc>
                <a:spcPts val="1500"/>
              </a:lnSpc>
              <a:buNone/>
            </a:pPr>
            <a:r>
              <a:rPr lang="en-US" sz="900" dirty="0">
                <a:solidFill>
                  <a:srgbClr val="2B2E3C"/>
                </a:solidFill>
                <a:latin typeface="Open Sans" pitchFamily="34" charset="0"/>
                <a:ea typeface="Open Sans" pitchFamily="34" charset="-122"/>
                <a:cs typeface="Open Sans" pitchFamily="34" charset="-120"/>
              </a:rPr>
              <a:t>Constructs the chat interface, featuring a disabled text area for displaying messages and an entry field for user input, along with a "Send" button.</a:t>
            </a:r>
            <a:endParaRPr lang="en-US" sz="900" dirty="0"/>
          </a:p>
        </p:txBody>
      </p:sp>
      <p:sp>
        <p:nvSpPr>
          <p:cNvPr id="7" name="Shape 5"/>
          <p:cNvSpPr/>
          <p:nvPr/>
        </p:nvSpPr>
        <p:spPr>
          <a:xfrm>
            <a:off x="549950" y="2194441"/>
            <a:ext cx="6576893" cy="1915597"/>
          </a:xfrm>
          <a:prstGeom prst="roundRect">
            <a:avLst>
              <a:gd name="adj" fmla="val 2643"/>
            </a:avLst>
          </a:prstGeom>
          <a:solidFill>
            <a:srgbClr val="F2EBE3"/>
          </a:solidFill>
          <a:ln/>
        </p:spPr>
        <p:txBody>
          <a:bodyPr/>
          <a:lstStyle/>
          <a:p>
            <a:endParaRPr lang="en-US"/>
          </a:p>
        </p:txBody>
      </p:sp>
      <p:sp>
        <p:nvSpPr>
          <p:cNvPr id="8" name="Shape 6"/>
          <p:cNvSpPr/>
          <p:nvPr/>
        </p:nvSpPr>
        <p:spPr>
          <a:xfrm>
            <a:off x="543997" y="2194441"/>
            <a:ext cx="6588800" cy="1915597"/>
          </a:xfrm>
          <a:prstGeom prst="roundRect">
            <a:avLst>
              <a:gd name="adj" fmla="val 944"/>
            </a:avLst>
          </a:prstGeom>
          <a:solidFill>
            <a:srgbClr val="F2EBE3"/>
          </a:solidFill>
          <a:ln/>
        </p:spPr>
        <p:txBody>
          <a:bodyPr/>
          <a:lstStyle/>
          <a:p>
            <a:endParaRPr lang="en-US"/>
          </a:p>
        </p:txBody>
      </p:sp>
      <p:sp>
        <p:nvSpPr>
          <p:cNvPr id="9" name="Text 7"/>
          <p:cNvSpPr/>
          <p:nvPr/>
        </p:nvSpPr>
        <p:spPr>
          <a:xfrm>
            <a:off x="664488" y="2284809"/>
            <a:ext cx="6347817" cy="1734860"/>
          </a:xfrm>
          <a:prstGeom prst="rect">
            <a:avLst/>
          </a:prstGeom>
          <a:noFill/>
          <a:ln/>
        </p:spPr>
        <p:txBody>
          <a:bodyPr wrap="square" lIns="0" tIns="0" rIns="0" bIns="0" rtlCol="0" anchor="t"/>
          <a:lstStyle/>
          <a:p>
            <a:pPr marL="0" indent="0" algn="l">
              <a:lnSpc>
                <a:spcPts val="1500"/>
              </a:lnSpc>
              <a:buNone/>
            </a:pPr>
            <a:r>
              <a:rPr lang="en-US" sz="900" dirty="0">
                <a:solidFill>
                  <a:srgbClr val="2B2E3C"/>
                </a:solidFill>
                <a:highlight>
                  <a:srgbClr val="F2EBE3"/>
                </a:highlight>
                <a:latin typeface="Consolas" pitchFamily="34" charset="0"/>
                <a:ea typeface="Consolas" pitchFamily="34" charset="-122"/>
                <a:cs typeface="Consolas" pitchFamily="34" charset="-120"/>
              </a:rPr>
              <a:t>def build_chat_ui(self):
    self.clear_screen()
    self.chat_area = tk.Text(self.root, state="disabled")
    self.chat_area.pack(padx=10, pady=10, expand=True, fill="both")
    self.msg_entry = tk.Entry(self.root)
    self.msg_entry.pack(padx=10, pady=5, fill="x")
    self.msg_entry.bind("", lambda event: self.send_message())
    tk.Button(self.root, text="Send", command=self.send_message).pack(pady=5)
</a:t>
            </a:r>
            <a:endParaRPr lang="en-US" sz="900" dirty="0"/>
          </a:p>
        </p:txBody>
      </p:sp>
      <p:sp>
        <p:nvSpPr>
          <p:cNvPr id="10" name="Shape 8"/>
          <p:cNvSpPr/>
          <p:nvPr/>
        </p:nvSpPr>
        <p:spPr>
          <a:xfrm>
            <a:off x="7375446" y="1277183"/>
            <a:ext cx="6833116" cy="6623447"/>
          </a:xfrm>
          <a:prstGeom prst="roundRect">
            <a:avLst>
              <a:gd name="adj" fmla="val 764"/>
            </a:avLst>
          </a:prstGeom>
          <a:solidFill>
            <a:srgbClr val="FCE2CF"/>
          </a:solidFill>
          <a:ln w="7620">
            <a:solidFill>
              <a:srgbClr val="E2C8B5"/>
            </a:solidFill>
            <a:prstDash val="solid"/>
          </a:ln>
        </p:spPr>
        <p:txBody>
          <a:bodyPr/>
          <a:lstStyle/>
          <a:p>
            <a:endParaRPr lang="en-US"/>
          </a:p>
        </p:txBody>
      </p:sp>
      <p:sp>
        <p:nvSpPr>
          <p:cNvPr id="11" name="Text 9"/>
          <p:cNvSpPr/>
          <p:nvPr/>
        </p:nvSpPr>
        <p:spPr>
          <a:xfrm>
            <a:off x="7503557" y="1405295"/>
            <a:ext cx="1506498" cy="195858"/>
          </a:xfrm>
          <a:prstGeom prst="rect">
            <a:avLst/>
          </a:prstGeom>
          <a:noFill/>
          <a:ln/>
        </p:spPr>
        <p:txBody>
          <a:bodyPr wrap="none" lIns="0" tIns="0" rIns="0" bIns="0" rtlCol="0" anchor="t"/>
          <a:lstStyle/>
          <a:p>
            <a:pPr marL="0" indent="0" algn="l">
              <a:lnSpc>
                <a:spcPts val="1450"/>
              </a:lnSpc>
              <a:buNone/>
            </a:pPr>
            <a:r>
              <a:rPr lang="en-US" sz="1150" dirty="0">
                <a:solidFill>
                  <a:srgbClr val="2B2E3C"/>
                </a:solidFill>
                <a:highlight>
                  <a:srgbClr val="F2EBE3"/>
                </a:highlight>
                <a:latin typeface="Consolas" pitchFamily="34" charset="0"/>
                <a:ea typeface="Consolas" pitchFamily="34" charset="-122"/>
                <a:cs typeface="Consolas" pitchFamily="34" charset="-120"/>
              </a:rPr>
              <a:t>connect()</a:t>
            </a:r>
            <a:endParaRPr lang="en-US" sz="1150" dirty="0"/>
          </a:p>
        </p:txBody>
      </p:sp>
      <p:sp>
        <p:nvSpPr>
          <p:cNvPr id="12" name="Text 10"/>
          <p:cNvSpPr/>
          <p:nvPr/>
        </p:nvSpPr>
        <p:spPr>
          <a:xfrm>
            <a:off x="7503557" y="1673423"/>
            <a:ext cx="6576893" cy="385524"/>
          </a:xfrm>
          <a:prstGeom prst="rect">
            <a:avLst/>
          </a:prstGeom>
          <a:noFill/>
          <a:ln/>
        </p:spPr>
        <p:txBody>
          <a:bodyPr wrap="square" lIns="0" tIns="0" rIns="0" bIns="0" rtlCol="0" anchor="t"/>
          <a:lstStyle/>
          <a:p>
            <a:pPr marL="0" indent="0" algn="l">
              <a:lnSpc>
                <a:spcPts val="1500"/>
              </a:lnSpc>
              <a:buNone/>
            </a:pPr>
            <a:r>
              <a:rPr lang="en-US" sz="900" dirty="0">
                <a:solidFill>
                  <a:srgbClr val="2B2E3C"/>
                </a:solidFill>
                <a:latin typeface="Open Sans" pitchFamily="34" charset="0"/>
                <a:ea typeface="Open Sans" pitchFamily="34" charset="-122"/>
                <a:cs typeface="Open Sans" pitchFamily="34" charset="-120"/>
              </a:rPr>
              <a:t>Attempts to connect to the server using the provided IP, port, and username. It validates inputs and displays error messages if the connection fails.</a:t>
            </a:r>
            <a:endParaRPr lang="en-US" sz="900" dirty="0"/>
          </a:p>
        </p:txBody>
      </p:sp>
      <p:sp>
        <p:nvSpPr>
          <p:cNvPr id="13" name="Shape 11"/>
          <p:cNvSpPr/>
          <p:nvPr/>
        </p:nvSpPr>
        <p:spPr>
          <a:xfrm>
            <a:off x="7503557" y="2194441"/>
            <a:ext cx="6576893" cy="5578078"/>
          </a:xfrm>
          <a:prstGeom prst="roundRect">
            <a:avLst>
              <a:gd name="adj" fmla="val 908"/>
            </a:avLst>
          </a:prstGeom>
          <a:solidFill>
            <a:srgbClr val="F2EBE3"/>
          </a:solidFill>
          <a:ln/>
        </p:spPr>
        <p:txBody>
          <a:bodyPr/>
          <a:lstStyle/>
          <a:p>
            <a:endParaRPr lang="en-US"/>
          </a:p>
        </p:txBody>
      </p:sp>
      <p:sp>
        <p:nvSpPr>
          <p:cNvPr id="14" name="Shape 12"/>
          <p:cNvSpPr/>
          <p:nvPr/>
        </p:nvSpPr>
        <p:spPr>
          <a:xfrm>
            <a:off x="7497604" y="2194441"/>
            <a:ext cx="6588800" cy="5578078"/>
          </a:xfrm>
          <a:prstGeom prst="roundRect">
            <a:avLst>
              <a:gd name="adj" fmla="val 324"/>
            </a:avLst>
          </a:prstGeom>
          <a:solidFill>
            <a:srgbClr val="F2EBE3"/>
          </a:solidFill>
          <a:ln/>
        </p:spPr>
        <p:txBody>
          <a:bodyPr/>
          <a:lstStyle/>
          <a:p>
            <a:endParaRPr lang="en-US"/>
          </a:p>
        </p:txBody>
      </p:sp>
      <p:sp>
        <p:nvSpPr>
          <p:cNvPr id="15" name="Text 13"/>
          <p:cNvSpPr/>
          <p:nvPr/>
        </p:nvSpPr>
        <p:spPr>
          <a:xfrm>
            <a:off x="7618095" y="2284809"/>
            <a:ext cx="6347817" cy="5397341"/>
          </a:xfrm>
          <a:prstGeom prst="rect">
            <a:avLst/>
          </a:prstGeom>
          <a:noFill/>
          <a:ln/>
        </p:spPr>
        <p:txBody>
          <a:bodyPr wrap="square" lIns="0" tIns="0" rIns="0" bIns="0" rtlCol="0" anchor="t"/>
          <a:lstStyle/>
          <a:p>
            <a:pPr marL="0" indent="0" algn="l">
              <a:lnSpc>
                <a:spcPts val="1500"/>
              </a:lnSpc>
              <a:buNone/>
            </a:pPr>
            <a:r>
              <a:rPr lang="en-US" sz="900" dirty="0">
                <a:solidFill>
                  <a:srgbClr val="2B2E3C"/>
                </a:solidFill>
                <a:highlight>
                  <a:srgbClr val="F2EBE3"/>
                </a:highlight>
                <a:latin typeface="Consolas" pitchFamily="34" charset="0"/>
                <a:ea typeface="Consolas" pitchFamily="34" charset="-122"/>
                <a:cs typeface="Consolas" pitchFamily="34" charset="-120"/>
              </a:rPr>
              <a:t>def connect(self):
 ip = self.ip_entry.get()
 port = self.port_entry.get()
 username = self.username_entry.get()
 if not is_valid_ip(ip):
 messagebox.showerror("Error", "Invalid IP address")
 return
 try:
 port = int(port)
 if not is_valid_port(port):
 raise ValueError
 except:
 messagebox.showerror("Error", "Invalid Port")
 return
 if username.strip() == "":
 messagebox.showerror("Error", "Username required")
 return
 try:
 self.client = socket.socket(socket.AF_INET, socket.SOCK_STREAM)
 self.client.connect((ip, port))
 self.client.send(username.encode())
 except:
 messagebox.showerror("Error", "Connection failed")
 return
 self.username = username
 self.build_chat_ui()
 threading.Thread(target=self.receive_messages, daemon=True).start()
</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1028" y="779145"/>
            <a:ext cx="9477256" cy="536615"/>
          </a:xfrm>
          <a:prstGeom prst="rect">
            <a:avLst/>
          </a:prstGeom>
          <a:noFill/>
          <a:ln/>
        </p:spPr>
        <p:txBody>
          <a:bodyPr wrap="none" lIns="0" tIns="0" rIns="0" bIns="0" rtlCol="0" anchor="t"/>
          <a:lstStyle/>
          <a:p>
            <a:pPr marL="0" indent="0" algn="l">
              <a:lnSpc>
                <a:spcPts val="4200"/>
              </a:lnSpc>
              <a:buNone/>
            </a:pPr>
            <a:r>
              <a:rPr lang="en-US" sz="3350" dirty="0">
                <a:solidFill>
                  <a:srgbClr val="2C3F42"/>
                </a:solidFill>
                <a:latin typeface="Bitter Medium" pitchFamily="34" charset="0"/>
                <a:ea typeface="Bitter Medium" pitchFamily="34" charset="-122"/>
                <a:cs typeface="Bitter Medium" pitchFamily="34" charset="-120"/>
              </a:rPr>
              <a:t>GUI Client: Messaging and Application Lifecycle</a:t>
            </a:r>
            <a:endParaRPr lang="en-US" sz="3350" dirty="0"/>
          </a:p>
        </p:txBody>
      </p:sp>
      <p:sp>
        <p:nvSpPr>
          <p:cNvPr id="3" name="Text 1"/>
          <p:cNvSpPr/>
          <p:nvPr/>
        </p:nvSpPr>
        <p:spPr>
          <a:xfrm>
            <a:off x="601028" y="1659136"/>
            <a:ext cx="13428345" cy="274677"/>
          </a:xfrm>
          <a:prstGeom prst="rect">
            <a:avLst/>
          </a:prstGeom>
          <a:noFill/>
          <a:ln/>
        </p:spPr>
        <p:txBody>
          <a:bodyPr wrap="none" lIns="0" tIns="0" rIns="0" bIns="0" rtlCol="0" anchor="t"/>
          <a:lstStyle/>
          <a:p>
            <a:pPr marL="0" indent="0" algn="l">
              <a:lnSpc>
                <a:spcPts val="2150"/>
              </a:lnSpc>
              <a:buNone/>
            </a:pPr>
            <a:r>
              <a:rPr lang="en-US" sz="1350" dirty="0">
                <a:solidFill>
                  <a:srgbClr val="2B2E3C"/>
                </a:solidFill>
                <a:latin typeface="Open Sans" pitchFamily="34" charset="0"/>
                <a:ea typeface="Open Sans" pitchFamily="34" charset="-122"/>
                <a:cs typeface="Open Sans" pitchFamily="34" charset="-120"/>
              </a:rPr>
              <a:t>This section details how the GUI client handles sending and receiving messages, updating the chat display, and managing the application's lifecycle.</a:t>
            </a:r>
            <a:endParaRPr lang="en-US" sz="1350" dirty="0"/>
          </a:p>
        </p:txBody>
      </p:sp>
      <p:sp>
        <p:nvSpPr>
          <p:cNvPr id="4" name="Shape 2"/>
          <p:cNvSpPr/>
          <p:nvPr/>
        </p:nvSpPr>
        <p:spPr>
          <a:xfrm>
            <a:off x="601028" y="2126933"/>
            <a:ext cx="4361617" cy="5323403"/>
          </a:xfrm>
          <a:prstGeom prst="roundRect">
            <a:avLst>
              <a:gd name="adj" fmla="val 1654"/>
            </a:avLst>
          </a:prstGeom>
          <a:solidFill>
            <a:srgbClr val="FCE2CF"/>
          </a:solidFill>
          <a:ln w="7620">
            <a:solidFill>
              <a:srgbClr val="E2C8B5"/>
            </a:solidFill>
            <a:prstDash val="solid"/>
          </a:ln>
        </p:spPr>
        <p:txBody>
          <a:bodyPr/>
          <a:lstStyle/>
          <a:p>
            <a:endParaRPr lang="en-US"/>
          </a:p>
        </p:txBody>
      </p:sp>
      <p:sp>
        <p:nvSpPr>
          <p:cNvPr id="5" name="Text 3"/>
          <p:cNvSpPr/>
          <p:nvPr/>
        </p:nvSpPr>
        <p:spPr>
          <a:xfrm>
            <a:off x="780336" y="2306241"/>
            <a:ext cx="2146578" cy="291108"/>
          </a:xfrm>
          <a:prstGeom prst="rect">
            <a:avLst/>
          </a:prstGeom>
          <a:noFill/>
          <a:ln/>
        </p:spPr>
        <p:txBody>
          <a:bodyPr wrap="none" lIns="0" tIns="0" rIns="0" bIns="0" rtlCol="0" anchor="t"/>
          <a:lstStyle/>
          <a:p>
            <a:pPr marL="0" indent="0" algn="l">
              <a:lnSpc>
                <a:spcPts val="2100"/>
              </a:lnSpc>
              <a:buNone/>
            </a:pPr>
            <a:r>
              <a:rPr lang="en-US" sz="1650" dirty="0">
                <a:solidFill>
                  <a:srgbClr val="2B2E3C"/>
                </a:solidFill>
                <a:highlight>
                  <a:srgbClr val="F2EBE3"/>
                </a:highlight>
                <a:latin typeface="Consolas" pitchFamily="34" charset="0"/>
                <a:ea typeface="Consolas" pitchFamily="34" charset="-122"/>
                <a:cs typeface="Consolas" pitchFamily="34" charset="-120"/>
              </a:rPr>
              <a:t>send_message()</a:t>
            </a:r>
            <a:endParaRPr lang="en-US" sz="1650" dirty="0"/>
          </a:p>
        </p:txBody>
      </p:sp>
      <p:sp>
        <p:nvSpPr>
          <p:cNvPr id="6" name="Text 4"/>
          <p:cNvSpPr/>
          <p:nvPr/>
        </p:nvSpPr>
        <p:spPr>
          <a:xfrm>
            <a:off x="780336" y="2700338"/>
            <a:ext cx="4003000" cy="1098709"/>
          </a:xfrm>
          <a:prstGeom prst="rect">
            <a:avLst/>
          </a:prstGeom>
          <a:noFill/>
          <a:ln/>
        </p:spPr>
        <p:txBody>
          <a:bodyPr wrap="square" lIns="0" tIns="0" rIns="0" bIns="0" rtlCol="0" anchor="t"/>
          <a:lstStyle/>
          <a:p>
            <a:pPr marL="0" indent="0" algn="l">
              <a:lnSpc>
                <a:spcPts val="2150"/>
              </a:lnSpc>
              <a:buNone/>
            </a:pPr>
            <a:r>
              <a:rPr lang="en-US" sz="1350" dirty="0">
                <a:solidFill>
                  <a:srgbClr val="2B2E3C"/>
                </a:solidFill>
                <a:latin typeface="Open Sans" pitchFamily="34" charset="0"/>
                <a:ea typeface="Open Sans" pitchFamily="34" charset="-122"/>
                <a:cs typeface="Open Sans" pitchFamily="34" charset="-120"/>
              </a:rPr>
              <a:t>Sends the user's message to the server, displays it in the chat area, and clears the input field. If the message is "bye", it closes the client connection and exits the application.</a:t>
            </a:r>
            <a:endParaRPr lang="en-US" sz="1350" dirty="0"/>
          </a:p>
        </p:txBody>
      </p:sp>
      <p:sp>
        <p:nvSpPr>
          <p:cNvPr id="7" name="Shape 5"/>
          <p:cNvSpPr/>
          <p:nvPr/>
        </p:nvSpPr>
        <p:spPr>
          <a:xfrm>
            <a:off x="780336" y="3992166"/>
            <a:ext cx="4003000" cy="3278862"/>
          </a:xfrm>
          <a:prstGeom prst="roundRect">
            <a:avLst>
              <a:gd name="adj" fmla="val 2200"/>
            </a:avLst>
          </a:prstGeom>
          <a:solidFill>
            <a:srgbClr val="F2EBE3"/>
          </a:solidFill>
          <a:ln/>
        </p:spPr>
        <p:txBody>
          <a:bodyPr/>
          <a:lstStyle/>
          <a:p>
            <a:endParaRPr lang="en-US"/>
          </a:p>
        </p:txBody>
      </p:sp>
      <p:sp>
        <p:nvSpPr>
          <p:cNvPr id="8" name="Shape 6"/>
          <p:cNvSpPr/>
          <p:nvPr/>
        </p:nvSpPr>
        <p:spPr>
          <a:xfrm>
            <a:off x="771763" y="3992166"/>
            <a:ext cx="4020145" cy="3278862"/>
          </a:xfrm>
          <a:prstGeom prst="roundRect">
            <a:avLst>
              <a:gd name="adj" fmla="val 786"/>
            </a:avLst>
          </a:prstGeom>
          <a:solidFill>
            <a:srgbClr val="F2EBE3"/>
          </a:solidFill>
          <a:ln/>
        </p:spPr>
        <p:txBody>
          <a:bodyPr/>
          <a:lstStyle/>
          <a:p>
            <a:endParaRPr lang="en-US"/>
          </a:p>
        </p:txBody>
      </p:sp>
      <p:sp>
        <p:nvSpPr>
          <p:cNvPr id="9" name="Text 7"/>
          <p:cNvSpPr/>
          <p:nvPr/>
        </p:nvSpPr>
        <p:spPr>
          <a:xfrm>
            <a:off x="943451" y="4120872"/>
            <a:ext cx="3676769" cy="3021449"/>
          </a:xfrm>
          <a:prstGeom prst="rect">
            <a:avLst/>
          </a:prstGeom>
          <a:noFill/>
          <a:ln/>
        </p:spPr>
        <p:txBody>
          <a:bodyPr wrap="square" lIns="0" tIns="0" rIns="0" bIns="0" rtlCol="0" anchor="t"/>
          <a:lstStyle/>
          <a:p>
            <a:pPr marL="0" indent="0" algn="l">
              <a:lnSpc>
                <a:spcPts val="2150"/>
              </a:lnSpc>
              <a:buNone/>
            </a:pPr>
            <a:r>
              <a:rPr lang="en-US" sz="1350" dirty="0">
                <a:solidFill>
                  <a:srgbClr val="2B2E3C"/>
                </a:solidFill>
                <a:highlight>
                  <a:srgbClr val="F2EBE3"/>
                </a:highlight>
                <a:latin typeface="Consolas" pitchFamily="34" charset="0"/>
                <a:ea typeface="Consolas" pitchFamily="34" charset="-122"/>
                <a:cs typeface="Consolas" pitchFamily="34" charset="-120"/>
              </a:rPr>
              <a:t>def send_message(self):
    message = self.msg_entry.get()
    if message == "":
        return
    self.client.send(message.encode())
    self.display_message(f"You: {message}")
    self.msg_entry.delete(0, tk.END)
    if message.lower() == "bye":
        self.client.close()
        self.root.quit()
</a:t>
            </a:r>
            <a:endParaRPr lang="en-US" sz="1350" dirty="0"/>
          </a:p>
        </p:txBody>
      </p:sp>
      <p:sp>
        <p:nvSpPr>
          <p:cNvPr id="10" name="Shape 8"/>
          <p:cNvSpPr/>
          <p:nvPr/>
        </p:nvSpPr>
        <p:spPr>
          <a:xfrm>
            <a:off x="5134332" y="2126933"/>
            <a:ext cx="4361617" cy="5323403"/>
          </a:xfrm>
          <a:prstGeom prst="roundRect">
            <a:avLst>
              <a:gd name="adj" fmla="val 1654"/>
            </a:avLst>
          </a:prstGeom>
          <a:solidFill>
            <a:srgbClr val="FCE2CF"/>
          </a:solidFill>
          <a:ln w="7620">
            <a:solidFill>
              <a:srgbClr val="E2C8B5"/>
            </a:solidFill>
            <a:prstDash val="solid"/>
          </a:ln>
        </p:spPr>
        <p:txBody>
          <a:bodyPr/>
          <a:lstStyle/>
          <a:p>
            <a:endParaRPr lang="en-US"/>
          </a:p>
        </p:txBody>
      </p:sp>
      <p:sp>
        <p:nvSpPr>
          <p:cNvPr id="11" name="Text 9"/>
          <p:cNvSpPr/>
          <p:nvPr/>
        </p:nvSpPr>
        <p:spPr>
          <a:xfrm>
            <a:off x="5313640" y="2306241"/>
            <a:ext cx="2146578" cy="291108"/>
          </a:xfrm>
          <a:prstGeom prst="rect">
            <a:avLst/>
          </a:prstGeom>
          <a:noFill/>
          <a:ln/>
        </p:spPr>
        <p:txBody>
          <a:bodyPr wrap="none" lIns="0" tIns="0" rIns="0" bIns="0" rtlCol="0" anchor="t"/>
          <a:lstStyle/>
          <a:p>
            <a:pPr marL="0" indent="0" algn="l">
              <a:lnSpc>
                <a:spcPts val="2100"/>
              </a:lnSpc>
              <a:buNone/>
            </a:pPr>
            <a:r>
              <a:rPr lang="en-US" sz="1650" dirty="0">
                <a:solidFill>
                  <a:srgbClr val="2B2E3C"/>
                </a:solidFill>
                <a:highlight>
                  <a:srgbClr val="F2EBE3"/>
                </a:highlight>
                <a:latin typeface="Consolas" pitchFamily="34" charset="0"/>
                <a:ea typeface="Consolas" pitchFamily="34" charset="-122"/>
                <a:cs typeface="Consolas" pitchFamily="34" charset="-120"/>
              </a:rPr>
              <a:t>receive_messages()</a:t>
            </a:r>
            <a:endParaRPr lang="en-US" sz="1650" dirty="0"/>
          </a:p>
        </p:txBody>
      </p:sp>
      <p:sp>
        <p:nvSpPr>
          <p:cNvPr id="12" name="Text 10"/>
          <p:cNvSpPr/>
          <p:nvPr/>
        </p:nvSpPr>
        <p:spPr>
          <a:xfrm>
            <a:off x="5313640" y="2700338"/>
            <a:ext cx="4003000" cy="824032"/>
          </a:xfrm>
          <a:prstGeom prst="rect">
            <a:avLst/>
          </a:prstGeom>
          <a:noFill/>
          <a:ln/>
        </p:spPr>
        <p:txBody>
          <a:bodyPr wrap="square" lIns="0" tIns="0" rIns="0" bIns="0" rtlCol="0" anchor="t"/>
          <a:lstStyle/>
          <a:p>
            <a:pPr marL="0" indent="0" algn="l">
              <a:lnSpc>
                <a:spcPts val="2150"/>
              </a:lnSpc>
              <a:buNone/>
            </a:pPr>
            <a:r>
              <a:rPr lang="en-US" sz="1350" dirty="0">
                <a:solidFill>
                  <a:srgbClr val="2B2E3C"/>
                </a:solidFill>
                <a:latin typeface="Open Sans" pitchFamily="34" charset="0"/>
                <a:ea typeface="Open Sans" pitchFamily="34" charset="-122"/>
                <a:cs typeface="Open Sans" pitchFamily="34" charset="-120"/>
              </a:rPr>
              <a:t>Runs in a separate thread to continuously receive messages from the server. It decodes and displays chatbot replies in the chat area.</a:t>
            </a:r>
            <a:endParaRPr lang="en-US" sz="1350" dirty="0"/>
          </a:p>
        </p:txBody>
      </p:sp>
      <p:sp>
        <p:nvSpPr>
          <p:cNvPr id="13" name="Shape 11"/>
          <p:cNvSpPr/>
          <p:nvPr/>
        </p:nvSpPr>
        <p:spPr>
          <a:xfrm>
            <a:off x="5313640" y="3717488"/>
            <a:ext cx="4003000" cy="3004185"/>
          </a:xfrm>
          <a:prstGeom prst="roundRect">
            <a:avLst>
              <a:gd name="adj" fmla="val 2401"/>
            </a:avLst>
          </a:prstGeom>
          <a:solidFill>
            <a:srgbClr val="F2EBE3"/>
          </a:solidFill>
          <a:ln/>
        </p:spPr>
        <p:txBody>
          <a:bodyPr/>
          <a:lstStyle/>
          <a:p>
            <a:endParaRPr lang="en-US"/>
          </a:p>
        </p:txBody>
      </p:sp>
      <p:sp>
        <p:nvSpPr>
          <p:cNvPr id="14" name="Shape 12"/>
          <p:cNvSpPr/>
          <p:nvPr/>
        </p:nvSpPr>
        <p:spPr>
          <a:xfrm>
            <a:off x="5305068" y="3717488"/>
            <a:ext cx="4020145" cy="3004185"/>
          </a:xfrm>
          <a:prstGeom prst="roundRect">
            <a:avLst>
              <a:gd name="adj" fmla="val 857"/>
            </a:avLst>
          </a:prstGeom>
          <a:solidFill>
            <a:srgbClr val="F2EBE3"/>
          </a:solidFill>
          <a:ln/>
        </p:spPr>
        <p:txBody>
          <a:bodyPr/>
          <a:lstStyle/>
          <a:p>
            <a:endParaRPr lang="en-US"/>
          </a:p>
        </p:txBody>
      </p:sp>
      <p:sp>
        <p:nvSpPr>
          <p:cNvPr id="15" name="Text 13"/>
          <p:cNvSpPr/>
          <p:nvPr/>
        </p:nvSpPr>
        <p:spPr>
          <a:xfrm>
            <a:off x="5476756" y="3846195"/>
            <a:ext cx="3676769" cy="2746772"/>
          </a:xfrm>
          <a:prstGeom prst="rect">
            <a:avLst/>
          </a:prstGeom>
          <a:noFill/>
          <a:ln/>
        </p:spPr>
        <p:txBody>
          <a:bodyPr wrap="square" lIns="0" tIns="0" rIns="0" bIns="0" rtlCol="0" anchor="t"/>
          <a:lstStyle/>
          <a:p>
            <a:pPr marL="0" indent="0" algn="l">
              <a:lnSpc>
                <a:spcPts val="2150"/>
              </a:lnSpc>
              <a:buNone/>
            </a:pPr>
            <a:r>
              <a:rPr lang="en-US" sz="1350" dirty="0">
                <a:solidFill>
                  <a:srgbClr val="2B2E3C"/>
                </a:solidFill>
                <a:highlight>
                  <a:srgbClr val="F2EBE3"/>
                </a:highlight>
                <a:latin typeface="Consolas" pitchFamily="34" charset="0"/>
                <a:ea typeface="Consolas" pitchFamily="34" charset="-122"/>
                <a:cs typeface="Consolas" pitchFamily="34" charset="-120"/>
              </a:rPr>
              <a:t>def receive_messages(self):
    while True:
        try:
            reply = self.client.recv(1024).decode()
            if not reply:
                break
            self.display_message(f"Bot: {reply}")
        except:
            break
</a:t>
            </a:r>
            <a:endParaRPr lang="en-US" sz="1350" dirty="0"/>
          </a:p>
        </p:txBody>
      </p:sp>
      <p:sp>
        <p:nvSpPr>
          <p:cNvPr id="16" name="Shape 14"/>
          <p:cNvSpPr/>
          <p:nvPr/>
        </p:nvSpPr>
        <p:spPr>
          <a:xfrm>
            <a:off x="9667637" y="2126933"/>
            <a:ext cx="4361617" cy="5323403"/>
          </a:xfrm>
          <a:prstGeom prst="roundRect">
            <a:avLst>
              <a:gd name="adj" fmla="val 1654"/>
            </a:avLst>
          </a:prstGeom>
          <a:solidFill>
            <a:srgbClr val="FCE2CF"/>
          </a:solidFill>
          <a:ln w="7620">
            <a:solidFill>
              <a:srgbClr val="E2C8B5"/>
            </a:solidFill>
            <a:prstDash val="solid"/>
          </a:ln>
        </p:spPr>
        <p:txBody>
          <a:bodyPr/>
          <a:lstStyle/>
          <a:p>
            <a:endParaRPr lang="en-US"/>
          </a:p>
        </p:txBody>
      </p:sp>
      <p:sp>
        <p:nvSpPr>
          <p:cNvPr id="17" name="Text 15"/>
          <p:cNvSpPr/>
          <p:nvPr/>
        </p:nvSpPr>
        <p:spPr>
          <a:xfrm>
            <a:off x="9846945" y="2306241"/>
            <a:ext cx="2146578" cy="291108"/>
          </a:xfrm>
          <a:prstGeom prst="rect">
            <a:avLst/>
          </a:prstGeom>
          <a:noFill/>
          <a:ln/>
        </p:spPr>
        <p:txBody>
          <a:bodyPr wrap="none" lIns="0" tIns="0" rIns="0" bIns="0" rtlCol="0" anchor="t"/>
          <a:lstStyle/>
          <a:p>
            <a:pPr marL="0" indent="0" algn="l">
              <a:lnSpc>
                <a:spcPts val="2100"/>
              </a:lnSpc>
              <a:buNone/>
            </a:pPr>
            <a:r>
              <a:rPr lang="en-US" sz="1650" dirty="0">
                <a:solidFill>
                  <a:srgbClr val="2B2E3C"/>
                </a:solidFill>
                <a:highlight>
                  <a:srgbClr val="F2EBE3"/>
                </a:highlight>
                <a:latin typeface="Consolas" pitchFamily="34" charset="0"/>
                <a:ea typeface="Consolas" pitchFamily="34" charset="-122"/>
                <a:cs typeface="Consolas" pitchFamily="34" charset="-120"/>
              </a:rPr>
              <a:t>display_message()</a:t>
            </a:r>
            <a:endParaRPr lang="en-US" sz="1650" dirty="0"/>
          </a:p>
        </p:txBody>
      </p:sp>
      <p:sp>
        <p:nvSpPr>
          <p:cNvPr id="18" name="Text 16"/>
          <p:cNvSpPr/>
          <p:nvPr/>
        </p:nvSpPr>
        <p:spPr>
          <a:xfrm>
            <a:off x="9846945" y="2700338"/>
            <a:ext cx="4003000" cy="824032"/>
          </a:xfrm>
          <a:prstGeom prst="rect">
            <a:avLst/>
          </a:prstGeom>
          <a:noFill/>
          <a:ln/>
        </p:spPr>
        <p:txBody>
          <a:bodyPr wrap="square" lIns="0" tIns="0" rIns="0" bIns="0" rtlCol="0" anchor="t"/>
          <a:lstStyle/>
          <a:p>
            <a:pPr marL="0" indent="0" algn="l">
              <a:lnSpc>
                <a:spcPts val="2150"/>
              </a:lnSpc>
              <a:buNone/>
            </a:pPr>
            <a:r>
              <a:rPr lang="en-US" sz="1350" dirty="0">
                <a:solidFill>
                  <a:srgbClr val="2B2E3C"/>
                </a:solidFill>
                <a:latin typeface="Open Sans" pitchFamily="34" charset="0"/>
                <a:ea typeface="Open Sans" pitchFamily="34" charset="-122"/>
                <a:cs typeface="Open Sans" pitchFamily="34" charset="-120"/>
              </a:rPr>
              <a:t>Appends new messages to the chat display area, ensuring the latest messages are always visible by scrolling to the end.</a:t>
            </a:r>
            <a:endParaRPr lang="en-US" sz="1350" dirty="0"/>
          </a:p>
        </p:txBody>
      </p:sp>
      <p:sp>
        <p:nvSpPr>
          <p:cNvPr id="19" name="Shape 17"/>
          <p:cNvSpPr/>
          <p:nvPr/>
        </p:nvSpPr>
        <p:spPr>
          <a:xfrm>
            <a:off x="9846945" y="3717488"/>
            <a:ext cx="4003000" cy="1905476"/>
          </a:xfrm>
          <a:prstGeom prst="roundRect">
            <a:avLst>
              <a:gd name="adj" fmla="val 3785"/>
            </a:avLst>
          </a:prstGeom>
          <a:solidFill>
            <a:srgbClr val="F2EBE3"/>
          </a:solidFill>
          <a:ln/>
        </p:spPr>
        <p:txBody>
          <a:bodyPr/>
          <a:lstStyle/>
          <a:p>
            <a:endParaRPr lang="en-US"/>
          </a:p>
        </p:txBody>
      </p:sp>
      <p:sp>
        <p:nvSpPr>
          <p:cNvPr id="20" name="Shape 18"/>
          <p:cNvSpPr/>
          <p:nvPr/>
        </p:nvSpPr>
        <p:spPr>
          <a:xfrm>
            <a:off x="9838373" y="3717488"/>
            <a:ext cx="4020145" cy="1905476"/>
          </a:xfrm>
          <a:prstGeom prst="roundRect">
            <a:avLst>
              <a:gd name="adj" fmla="val 1352"/>
            </a:avLst>
          </a:prstGeom>
          <a:solidFill>
            <a:srgbClr val="F2EBE3"/>
          </a:solidFill>
          <a:ln/>
        </p:spPr>
        <p:txBody>
          <a:bodyPr/>
          <a:lstStyle/>
          <a:p>
            <a:endParaRPr lang="en-US"/>
          </a:p>
        </p:txBody>
      </p:sp>
      <p:sp>
        <p:nvSpPr>
          <p:cNvPr id="21" name="Text 19"/>
          <p:cNvSpPr/>
          <p:nvPr/>
        </p:nvSpPr>
        <p:spPr>
          <a:xfrm>
            <a:off x="10010061" y="3846195"/>
            <a:ext cx="3676769" cy="1648063"/>
          </a:xfrm>
          <a:prstGeom prst="rect">
            <a:avLst/>
          </a:prstGeom>
          <a:noFill/>
          <a:ln/>
        </p:spPr>
        <p:txBody>
          <a:bodyPr wrap="square" lIns="0" tIns="0" rIns="0" bIns="0" rtlCol="0" anchor="t"/>
          <a:lstStyle/>
          <a:p>
            <a:pPr marL="0" indent="0" algn="l">
              <a:lnSpc>
                <a:spcPts val="2150"/>
              </a:lnSpc>
              <a:buNone/>
            </a:pPr>
            <a:r>
              <a:rPr lang="en-US" sz="1350" dirty="0">
                <a:solidFill>
                  <a:srgbClr val="2B2E3C"/>
                </a:solidFill>
                <a:highlight>
                  <a:srgbClr val="F2EBE3"/>
                </a:highlight>
                <a:latin typeface="Consolas" pitchFamily="34" charset="0"/>
                <a:ea typeface="Consolas" pitchFamily="34" charset="-122"/>
                <a:cs typeface="Consolas" pitchFamily="34" charset="-120"/>
              </a:rPr>
              <a:t>def display_message(self, message):
 self.chat_area.config(state="normal")
 self.chat_area.insert(tk.END, message + "\n")
 self.chat_area.config(state="disabled")
 self.chat_area.see(tk.END)
</a:t>
            </a:r>
            <a:endParaRPr lang="en-US" sz="1350" dirty="0"/>
          </a:p>
        </p:txBody>
      </p:sp>
      <p:sp>
        <p:nvSpPr>
          <p:cNvPr id="22" name="Shape 20"/>
          <p:cNvSpPr/>
          <p:nvPr/>
        </p:nvSpPr>
        <p:spPr>
          <a:xfrm>
            <a:off x="9846945" y="5816084"/>
            <a:ext cx="4003000" cy="1356122"/>
          </a:xfrm>
          <a:prstGeom prst="roundRect">
            <a:avLst>
              <a:gd name="adj" fmla="val 5319"/>
            </a:avLst>
          </a:prstGeom>
          <a:solidFill>
            <a:srgbClr val="F2EBE3"/>
          </a:solidFill>
          <a:ln/>
        </p:spPr>
        <p:txBody>
          <a:bodyPr/>
          <a:lstStyle/>
          <a:p>
            <a:endParaRPr lang="en-US"/>
          </a:p>
        </p:txBody>
      </p:sp>
      <p:sp>
        <p:nvSpPr>
          <p:cNvPr id="23" name="Shape 21"/>
          <p:cNvSpPr/>
          <p:nvPr/>
        </p:nvSpPr>
        <p:spPr>
          <a:xfrm>
            <a:off x="9838373" y="5816084"/>
            <a:ext cx="4020145" cy="1356122"/>
          </a:xfrm>
          <a:prstGeom prst="roundRect">
            <a:avLst>
              <a:gd name="adj" fmla="val 1900"/>
            </a:avLst>
          </a:prstGeom>
          <a:solidFill>
            <a:srgbClr val="F2EBE3"/>
          </a:solidFill>
          <a:ln/>
        </p:spPr>
        <p:txBody>
          <a:bodyPr/>
          <a:lstStyle/>
          <a:p>
            <a:endParaRPr lang="en-US"/>
          </a:p>
        </p:txBody>
      </p:sp>
      <p:sp>
        <p:nvSpPr>
          <p:cNvPr id="24" name="Text 22"/>
          <p:cNvSpPr/>
          <p:nvPr/>
        </p:nvSpPr>
        <p:spPr>
          <a:xfrm>
            <a:off x="10010061" y="5944791"/>
            <a:ext cx="3676769" cy="1098709"/>
          </a:xfrm>
          <a:prstGeom prst="rect">
            <a:avLst/>
          </a:prstGeom>
          <a:noFill/>
          <a:ln/>
        </p:spPr>
        <p:txBody>
          <a:bodyPr wrap="square" lIns="0" tIns="0" rIns="0" bIns="0" rtlCol="0" anchor="t"/>
          <a:lstStyle/>
          <a:p>
            <a:pPr marL="0" indent="0" algn="l">
              <a:lnSpc>
                <a:spcPts val="2150"/>
              </a:lnSpc>
              <a:buNone/>
            </a:pPr>
            <a:r>
              <a:rPr lang="en-US" sz="1350" dirty="0">
                <a:solidFill>
                  <a:srgbClr val="2B2E3C"/>
                </a:solidFill>
                <a:highlight>
                  <a:srgbClr val="F2EBE3"/>
                </a:highlight>
                <a:latin typeface="Consolas" pitchFamily="34" charset="0"/>
                <a:ea typeface="Consolas" pitchFamily="34" charset="-122"/>
                <a:cs typeface="Consolas" pitchFamily="34" charset="-120"/>
              </a:rPr>
              <a:t># ======== Run App ======</a:t>
            </a:r>
            <a:endParaRPr lang="en-US" sz="1350" dirty="0"/>
          </a:p>
          <a:p>
            <a:pPr marL="0" indent="0" algn="l">
              <a:lnSpc>
                <a:spcPts val="2150"/>
              </a:lnSpc>
              <a:buNone/>
            </a:pPr>
            <a:r>
              <a:rPr lang="en-US" sz="1350" dirty="0">
                <a:solidFill>
                  <a:srgbClr val="2B2E3C"/>
                </a:solidFill>
                <a:highlight>
                  <a:srgbClr val="F2EBE3"/>
                </a:highlight>
                <a:latin typeface="Consolas" pitchFamily="34" charset="0"/>
                <a:ea typeface="Consolas" pitchFamily="34" charset="-122"/>
                <a:cs typeface="Consolas" pitchFamily="34" charset="-120"/>
              </a:rPr>
              <a:t>root = tk.Tk()</a:t>
            </a:r>
            <a:endParaRPr lang="en-US" sz="1350" dirty="0"/>
          </a:p>
          <a:p>
            <a:pPr marL="0" indent="0" algn="l">
              <a:lnSpc>
                <a:spcPts val="2150"/>
              </a:lnSpc>
              <a:buNone/>
            </a:pPr>
            <a:r>
              <a:rPr lang="en-US" sz="1350" dirty="0">
                <a:solidFill>
                  <a:srgbClr val="2B2E3C"/>
                </a:solidFill>
                <a:highlight>
                  <a:srgbClr val="F2EBE3"/>
                </a:highlight>
                <a:latin typeface="Consolas" pitchFamily="34" charset="0"/>
                <a:ea typeface="Consolas" pitchFamily="34" charset="-122"/>
                <a:cs typeface="Consolas" pitchFamily="34" charset="-120"/>
              </a:rPr>
              <a:t>app = ChatClientGUI(root)</a:t>
            </a:r>
            <a:endParaRPr lang="en-US" sz="1350" dirty="0"/>
          </a:p>
          <a:p>
            <a:pPr marL="0" indent="0" algn="l">
              <a:lnSpc>
                <a:spcPts val="2150"/>
              </a:lnSpc>
              <a:buNone/>
            </a:pPr>
            <a:r>
              <a:rPr lang="en-US" sz="1350" dirty="0">
                <a:solidFill>
                  <a:srgbClr val="2B2E3C"/>
                </a:solidFill>
                <a:highlight>
                  <a:srgbClr val="F2EBE3"/>
                </a:highlight>
                <a:latin typeface="Consolas" pitchFamily="34" charset="0"/>
                <a:ea typeface="Consolas" pitchFamily="34" charset="-122"/>
                <a:cs typeface="Consolas" pitchFamily="34" charset="-120"/>
              </a:rPr>
              <a:t>root.mainloop()</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512916"/>
            <a:ext cx="7556421" cy="4954385"/>
          </a:xfrm>
          <a:prstGeom prst="rect">
            <a:avLst/>
          </a:prstGeom>
          <a:noFill/>
          <a:ln/>
        </p:spPr>
        <p:txBody>
          <a:bodyPr wrap="square" lIns="0" tIns="0" rIns="0" bIns="0" rtlCol="0" anchor="t"/>
          <a:lstStyle/>
          <a:p>
            <a:pPr marL="0" indent="0" algn="l">
              <a:lnSpc>
                <a:spcPts val="5550"/>
              </a:lnSpc>
              <a:buNone/>
            </a:pPr>
            <a:endParaRPr lang="en-US" sz="4450" dirty="0"/>
          </a:p>
        </p:txBody>
      </p:sp>
      <p:graphicFrame>
        <p:nvGraphicFramePr>
          <p:cNvPr id="7" name="TextBox 4">
            <a:extLst>
              <a:ext uri="{FF2B5EF4-FFF2-40B4-BE49-F238E27FC236}">
                <a16:creationId xmlns:a16="http://schemas.microsoft.com/office/drawing/2014/main" id="{948FEA86-87D7-A753-E2D5-092F75B8047F}"/>
              </a:ext>
            </a:extLst>
          </p:cNvPr>
          <p:cNvGraphicFramePr/>
          <p:nvPr>
            <p:extLst>
              <p:ext uri="{D42A27DB-BD31-4B8C-83A1-F6EECF244321}">
                <p14:modId xmlns:p14="http://schemas.microsoft.com/office/powerpoint/2010/main" val="369812140"/>
              </p:ext>
            </p:extLst>
          </p:nvPr>
        </p:nvGraphicFramePr>
        <p:xfrm>
          <a:off x="6689629" y="1697172"/>
          <a:ext cx="6970298" cy="45858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theme/_rels/them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TM02900743[[fn=Organic]]</Template>
  <TotalTime>61</TotalTime>
  <Words>2380</Words>
  <Application>Microsoft Office PowerPoint</Application>
  <PresentationFormat>Custom</PresentationFormat>
  <Paragraphs>155</Paragraphs>
  <Slides>12</Slides>
  <Notes>11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Arial</vt:lpstr>
      <vt:lpstr>Garamond</vt:lpstr>
      <vt:lpstr>Bitter Medium</vt:lpstr>
      <vt:lpstr>Consolas</vt:lpstr>
      <vt:lpstr>Open Sans</vt:lpstr>
      <vt:lpstr>Office Theme</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Abdelrahman Abdo</dc:creator>
  <cp:lastModifiedBy>مصعب عمر الصديق الامام</cp:lastModifiedBy>
  <cp:revision>4</cp:revision>
  <dcterms:created xsi:type="dcterms:W3CDTF">2025-12-23T13:20:10Z</dcterms:created>
  <dcterms:modified xsi:type="dcterms:W3CDTF">2025-12-23T17:09:58Z</dcterms:modified>
</cp:coreProperties>
</file>